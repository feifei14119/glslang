
<file path=[Content_Types].xml><?xml version="1.0" encoding="utf-8"?>
<Types xmlns="http://schemas.openxmlformats.org/package/2006/content-types">
  <Default Extension="jpeg" ContentType="image/jpeg"/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handoutMasterIdLst>
    <p:handoutMasterId r:id="rId19"/>
  </p:handoutMasterIdLst>
  <p:sldIdLst>
    <p:sldId id="2053" r:id="rId3"/>
    <p:sldId id="2054" r:id="rId4"/>
    <p:sldId id="2055" r:id="rId5"/>
    <p:sldId id="2062" r:id="rId6"/>
    <p:sldId id="2078" r:id="rId7"/>
    <p:sldId id="2069" r:id="rId8"/>
    <p:sldId id="2056" r:id="rId9"/>
    <p:sldId id="2057" r:id="rId10"/>
    <p:sldId id="2058" r:id="rId11"/>
    <p:sldId id="2059" r:id="rId12"/>
    <p:sldId id="2060" r:id="rId13"/>
    <p:sldId id="2061" r:id="rId14"/>
    <p:sldId id="2076" r:id="rId15"/>
    <p:sldId id="2077" r:id="rId16"/>
    <p:sldId id="2079" r:id="rId17"/>
  </p:sldIdLst>
  <p:sldSz cx="12188825" cy="6858000"/>
  <p:notesSz cx="6858000" cy="481965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9pPr>
  </p:defaultTextStyle>
  <p:extLst>
    <p:ext uri="{521415D9-36F7-43E2-AB2F-B90AF26B5E84}">
      <p14:sectionLst xmlns:p14="http://schemas.microsoft.com/office/powerpoint/2010/main">
        <p14:section name="Default Section" id="{33D7EF61-34E1-4259-909E-D88D36ABF468}">
          <p14:sldIdLst>
            <p14:sldId id="2053"/>
            <p14:sldId id="2054"/>
            <p14:sldId id="2055"/>
            <p14:sldId id="2062"/>
            <p14:sldId id="2078"/>
            <p14:sldId id="2069"/>
            <p14:sldId id="2056"/>
            <p14:sldId id="2057"/>
            <p14:sldId id="2058"/>
            <p14:sldId id="2059"/>
            <p14:sldId id="2060"/>
            <p14:sldId id="2076"/>
            <p14:sldId id="2077"/>
            <p14:sldId id="2079"/>
            <p14:sldId id="2061"/>
          </p14:sldIdLst>
        </p14:section>
      </p14:section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namalai, Pari" initials="AP" lastIdx="1" clrIdx="0"/>
  <p:cmAuthor id="2" name="Aldabagh, Maad" initials="AM" lastIdx="28" clrIdx="1"/>
  <p:cmAuthor id="3" name="Van Note, Paul" initials="VP" lastIdx="1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6522"/>
    <a:srgbClr val="ED1C24"/>
    <a:srgbClr val="73E1E7"/>
    <a:srgbClr val="F1FCFD"/>
    <a:srgbClr val="00AAB5"/>
    <a:srgbClr val="70FF5D"/>
    <a:srgbClr val="767DC5"/>
    <a:srgbClr val="A6CE39"/>
    <a:srgbClr val="D6F6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5244" autoAdjust="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>
        <p:guide orient="horz" pos="413"/>
        <p:guide pos="3703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928"/>
        <p:guide pos="2169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3" Type="http://schemas.openxmlformats.org/officeDocument/2006/relationships/commentAuthors" Target="commentAuthors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handoutMaster" Target="handoutMasters/handoutMaster1.xml"/><Relationship Id="rId18" Type="http://schemas.openxmlformats.org/officeDocument/2006/relationships/notesMaster" Target="notesMasters/notesMaster1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1"/>
            <a:ext cx="2972209" cy="465292"/>
          </a:xfrm>
          <a:prstGeom prst="rect">
            <a:avLst/>
          </a:prstGeom>
        </p:spPr>
        <p:txBody>
          <a:bodyPr vert="horz" lIns="92297" tIns="46148" rIns="92297" bIns="46148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259" y="1"/>
            <a:ext cx="2972209" cy="465292"/>
          </a:xfrm>
          <a:prstGeom prst="rect">
            <a:avLst/>
          </a:prstGeom>
        </p:spPr>
        <p:txBody>
          <a:bodyPr vert="horz" lIns="92297" tIns="46148" rIns="92297" bIns="46148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6569A6F2-41E5-4487-BD96-5B3320428D3B}" type="datetimeFigureOut">
              <a:rPr lang="en-US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2" y="8829537"/>
            <a:ext cx="2972209" cy="465292"/>
          </a:xfrm>
          <a:prstGeom prst="rect">
            <a:avLst/>
          </a:prstGeom>
        </p:spPr>
        <p:txBody>
          <a:bodyPr vert="horz" lIns="92297" tIns="46148" rIns="92297" bIns="46148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259" y="8829537"/>
            <a:ext cx="2972209" cy="465292"/>
          </a:xfrm>
          <a:prstGeom prst="rect">
            <a:avLst/>
          </a:prstGeom>
        </p:spPr>
        <p:txBody>
          <a:bodyPr vert="horz" lIns="92297" tIns="46148" rIns="92297" bIns="46148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F3E149D6-DCAC-453C-9646-F7ED99F1CBFB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1"/>
            <a:ext cx="2972209" cy="465292"/>
          </a:xfrm>
          <a:prstGeom prst="rect">
            <a:avLst/>
          </a:prstGeom>
        </p:spPr>
        <p:txBody>
          <a:bodyPr vert="horz" lIns="92297" tIns="46148" rIns="92297" bIns="46148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9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259" y="1"/>
            <a:ext cx="2972209" cy="465292"/>
          </a:xfrm>
          <a:prstGeom prst="rect">
            <a:avLst/>
          </a:prstGeom>
        </p:spPr>
        <p:txBody>
          <a:bodyPr vert="horz" lIns="92297" tIns="46148" rIns="92297" bIns="46148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900">
                <a:latin typeface="+mn-lt"/>
                <a:cs typeface="+mn-cs"/>
              </a:defRPr>
            </a:lvl1pPr>
          </a:lstStyle>
          <a:p>
            <a:pPr>
              <a:defRPr/>
            </a:pPr>
            <a:fld id="{38607A5D-693E-4C63-ACF6-88FE3734317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33375" y="698500"/>
            <a:ext cx="6191250" cy="34845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297" tIns="46148" rIns="92297" bIns="46148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364820" y="4439134"/>
            <a:ext cx="6128360" cy="4182909"/>
          </a:xfrm>
          <a:prstGeom prst="rect">
            <a:avLst/>
          </a:prstGeom>
        </p:spPr>
        <p:txBody>
          <a:bodyPr vert="horz" lIns="92297" tIns="46148" rIns="92297" bIns="46148" rtlCol="0"/>
          <a:lstStyle/>
          <a:p>
            <a:pPr lvl="0"/>
            <a:r>
              <a:rPr lang="en-US" noProof="0"/>
              <a:t>Click to edit Master text styles</a:t>
            </a:r>
            <a:endParaRPr lang="en-US" noProof="0"/>
          </a:p>
          <a:p>
            <a:pPr lvl="1"/>
            <a:r>
              <a:rPr lang="en-US" noProof="0"/>
              <a:t>Second level</a:t>
            </a:r>
            <a:endParaRPr lang="en-US" noProof="0"/>
          </a:p>
          <a:p>
            <a:pPr lvl="2"/>
            <a:r>
              <a:rPr lang="en-US" noProof="0"/>
              <a:t>Third level</a:t>
            </a:r>
            <a:endParaRPr lang="en-US" noProof="0"/>
          </a:p>
          <a:p>
            <a:pPr lvl="3"/>
            <a:r>
              <a:rPr lang="en-US" noProof="0"/>
              <a:t>Fourth level</a:t>
            </a:r>
            <a:endParaRPr lang="en-US" noProof="0"/>
          </a:p>
          <a:p>
            <a:pPr lvl="4"/>
            <a:r>
              <a:rPr lang="en-US" noProof="0"/>
              <a:t>Fifth level</a:t>
            </a:r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8829537"/>
            <a:ext cx="2972209" cy="465292"/>
          </a:xfrm>
          <a:prstGeom prst="rect">
            <a:avLst/>
          </a:prstGeom>
        </p:spPr>
        <p:txBody>
          <a:bodyPr vert="horz" lIns="92297" tIns="46148" rIns="92297" bIns="46148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9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259" y="8829537"/>
            <a:ext cx="2972209" cy="465292"/>
          </a:xfrm>
          <a:prstGeom prst="rect">
            <a:avLst/>
          </a:prstGeom>
        </p:spPr>
        <p:txBody>
          <a:bodyPr vert="horz" lIns="92297" tIns="46148" rIns="92297" bIns="46148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900">
                <a:latin typeface="+mn-lt"/>
                <a:cs typeface="+mn-cs"/>
              </a:defRPr>
            </a:lvl1pPr>
          </a:lstStyle>
          <a:p>
            <a:pPr>
              <a:defRPr/>
            </a:pPr>
            <a:fld id="{829AFB38-0ABE-46A6-A2CD-91E75B392D15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116205" indent="-116205" algn="l" rtl="0" eaLnBrk="0" fontAlgn="base" hangingPunct="0">
      <a:spcBef>
        <a:spcPct val="30000"/>
      </a:spcBef>
      <a:spcAft>
        <a:spcPct val="0"/>
      </a:spcAft>
      <a:buFont typeface="Wingdings 3" pitchFamily="18" charset="2"/>
      <a:buChar char="}"/>
      <a:defRPr sz="1000" kern="1200">
        <a:solidFill>
          <a:schemeClr val="tx1"/>
        </a:solidFill>
        <a:latin typeface="+mn-lt"/>
        <a:ea typeface="+mn-ea"/>
        <a:cs typeface="+mn-cs"/>
      </a:defRPr>
    </a:lvl1pPr>
    <a:lvl2pPr marL="406400" indent="-171450" algn="l" rtl="0" eaLnBrk="0" fontAlgn="base" hangingPunct="0">
      <a:spcBef>
        <a:spcPct val="30000"/>
      </a:spcBef>
      <a:spcAft>
        <a:spcPct val="0"/>
      </a:spcAft>
      <a:buFont typeface="Arial" panose="020B0604020202020204" pitchFamily="34" charset="0"/>
      <a:buChar char="–"/>
      <a:defRPr sz="1000" kern="1200">
        <a:solidFill>
          <a:schemeClr val="tx1"/>
        </a:solidFill>
        <a:latin typeface="+mn-lt"/>
        <a:ea typeface="+mn-ea"/>
        <a:cs typeface="+mn-cs"/>
      </a:defRPr>
    </a:lvl2pPr>
    <a:lvl3pPr marL="573405" indent="-116205" algn="l" rtl="0" eaLnBrk="0" fontAlgn="base" hangingPunct="0">
      <a:spcBef>
        <a:spcPct val="30000"/>
      </a:spcBef>
      <a:spcAft>
        <a:spcPct val="0"/>
      </a:spcAft>
      <a:buFont typeface="Arial" panose="020B0604020202020204" pitchFamily="34" charset="0"/>
      <a:buChar char="•"/>
      <a:defRPr sz="1000" kern="1200">
        <a:solidFill>
          <a:schemeClr val="tx1"/>
        </a:solidFill>
        <a:latin typeface="+mn-lt"/>
        <a:ea typeface="+mn-ea"/>
        <a:cs typeface="+mn-cs"/>
      </a:defRPr>
    </a:lvl3pPr>
    <a:lvl4pPr marL="9144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+mn-lt"/>
        <a:ea typeface="+mn-ea"/>
        <a:cs typeface="+mn-cs"/>
      </a:defRPr>
    </a:lvl4pPr>
    <a:lvl5pPr marL="114935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Dark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3245" y="1038224"/>
            <a:ext cx="11338560" cy="5280659"/>
          </a:xfrm>
        </p:spPr>
        <p:txBody>
          <a:bodyPr/>
          <a:lstStyle>
            <a:lvl1pPr>
              <a:buClrTx/>
              <a:defRPr sz="3000">
                <a:solidFill>
                  <a:schemeClr val="bg1"/>
                </a:solidFill>
              </a:defRPr>
            </a:lvl1pPr>
            <a:lvl2pPr>
              <a:buClrTx/>
              <a:defRPr sz="2600">
                <a:solidFill>
                  <a:schemeClr val="bg1"/>
                </a:solidFill>
              </a:defRPr>
            </a:lvl2pPr>
            <a:lvl3pPr>
              <a:buClrTx/>
              <a:defRPr sz="2200">
                <a:solidFill>
                  <a:schemeClr val="bg1"/>
                </a:solidFill>
              </a:defRPr>
            </a:lvl3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305624" y="278130"/>
            <a:ext cx="11616919" cy="474345"/>
          </a:xfrm>
        </p:spPr>
        <p:txBody>
          <a:bodyPr/>
          <a:lstStyle>
            <a:lvl1pPr>
              <a:defRPr sz="3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313244" y="752474"/>
            <a:ext cx="11616919" cy="285750"/>
          </a:xfrm>
        </p:spPr>
        <p:txBody>
          <a:bodyPr tIns="0" bIns="0">
            <a:noAutofit/>
          </a:bodyPr>
          <a:lstStyle>
            <a:lvl1pPr marL="0" indent="0" algn="l" defTabSz="914400" rtl="0" eaLnBrk="1" latinLnBrk="0" hangingPunct="1">
              <a:spcBef>
                <a:spcPct val="0"/>
              </a:spcBef>
              <a:buNone/>
              <a:defRPr lang="en-US" sz="1800" strike="noStrike" kern="1200" cap="all" baseline="0" dirty="0" smtClean="0">
                <a:solidFill>
                  <a:schemeClr val="bg1"/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367665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 smtClean="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+mj-cs"/>
              </a:defRPr>
            </a:lvl2pPr>
            <a:lvl3pPr marL="746125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 smtClean="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+mj-cs"/>
              </a:defRPr>
            </a:lvl3pPr>
            <a:lvl4pPr marL="1188720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 smtClean="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+mj-cs"/>
              </a:defRPr>
            </a:lvl4pPr>
            <a:lvl5pPr marL="1481455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+mj-cs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black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5625" y="278130"/>
            <a:ext cx="11346180" cy="474345"/>
          </a:xfrm>
          <a:prstGeom prst="rect">
            <a:avLst/>
          </a:prstGeom>
        </p:spPr>
        <p:txBody>
          <a:bodyPr vert="horz" lIns="0" tIns="45720" rIns="0" bIns="0" rtlCol="0" anchor="b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3245" y="1038224"/>
            <a:ext cx="11338560" cy="5280662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20183" y="6569077"/>
            <a:ext cx="134652" cy="221359"/>
          </a:xfrm>
          <a:prstGeom prst="rect">
            <a:avLst/>
          </a:prstGeom>
          <a:noFill/>
        </p:spPr>
        <p:txBody>
          <a:bodyPr wrap="none" lIns="0" tIns="41029" rIns="0" bIns="41029" rtlCol="0" anchor="ctr"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</a:pPr>
            <a:fld id="{B50A2252-0B00-49D0-9A28-2F5CCECF09D1}" type="slidenum">
              <a:rPr lang="en-US" sz="900" cap="all" smtClean="0">
                <a:solidFill>
                  <a:prstClr val="white"/>
                </a:solidFill>
                <a:cs typeface="Arial" panose="020B0604020202020204" pitchFamily="34" charset="0"/>
              </a:rPr>
            </a:fld>
            <a:endParaRPr lang="en-US" sz="1000" cap="all" dirty="0">
              <a:solidFill>
                <a:prstClr val="white"/>
              </a:solidFill>
              <a:cs typeface="Arial" panose="020B0604020202020204" pitchFamily="34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96327" y="325875"/>
            <a:ext cx="1201998" cy="469703"/>
          </a:xfrm>
          <a:prstGeom prst="rect">
            <a:avLst/>
          </a:prstGeom>
        </p:spPr>
      </p:pic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spcBef>
          <a:spcPct val="0"/>
        </a:spcBef>
        <a:buNone/>
        <a:defRPr sz="3200" i="0" strike="noStrike" kern="1200" cap="all" baseline="0">
          <a:solidFill>
            <a:schemeClr val="bg1"/>
          </a:solidFill>
          <a:latin typeface="Calibri" panose="020F0502020204030204" pitchFamily="34" charset="0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ts val="800"/>
        </a:spcBef>
        <a:spcAft>
          <a:spcPts val="0"/>
        </a:spcAft>
        <a:buClrTx/>
        <a:buFont typeface="Arial" panose="020B0604020202020204" pitchFamily="34" charset="0"/>
        <a:buChar char="•"/>
        <a:defRPr sz="3000" kern="1200">
          <a:solidFill>
            <a:schemeClr val="bg1"/>
          </a:solidFill>
          <a:latin typeface="Calibri" panose="020F0502020204030204" pitchFamily="34" charset="0"/>
          <a:ea typeface="+mn-ea"/>
          <a:cs typeface="+mn-cs"/>
        </a:defRPr>
      </a:lvl1pPr>
      <a:lvl2pPr marL="548640" indent="-180975" algn="l" defTabSz="914400" rtl="0" eaLnBrk="1" latinLnBrk="0" hangingPunct="1">
        <a:spcBef>
          <a:spcPts val="300"/>
        </a:spcBef>
        <a:spcAft>
          <a:spcPts val="0"/>
        </a:spcAft>
        <a:buClrTx/>
        <a:buFont typeface="Arial" panose="020B0604020202020204" pitchFamily="34" charset="0"/>
        <a:buChar char="•"/>
        <a:defRPr sz="2600" kern="1200">
          <a:solidFill>
            <a:schemeClr val="bg1"/>
          </a:solidFill>
          <a:latin typeface="Calibri" panose="020F0502020204030204" pitchFamily="34" charset="0"/>
          <a:ea typeface="+mn-ea"/>
          <a:cs typeface="+mn-cs"/>
        </a:defRPr>
      </a:lvl2pPr>
      <a:lvl3pPr marL="914400" indent="-168275" algn="l" defTabSz="914400" rtl="0" eaLnBrk="1" latinLnBrk="0" hangingPunct="1">
        <a:spcBef>
          <a:spcPts val="300"/>
        </a:spcBef>
        <a:spcAft>
          <a:spcPts val="0"/>
        </a:spcAft>
        <a:buClrTx/>
        <a:buFont typeface="Arial" panose="020B0604020202020204" pitchFamily="34" charset="0"/>
        <a:buChar char="•"/>
        <a:defRPr sz="2200" kern="1200">
          <a:solidFill>
            <a:schemeClr val="bg1"/>
          </a:solidFill>
          <a:latin typeface="Calibri" panose="020F0502020204030204" pitchFamily="34" charset="0"/>
          <a:ea typeface="+mn-ea"/>
          <a:cs typeface="+mn-cs"/>
        </a:defRPr>
      </a:lvl3pPr>
      <a:lvl4pPr marL="1371600" indent="-182880" algn="l" defTabSz="914400" rtl="0" eaLnBrk="1" latinLnBrk="0" hangingPunct="1">
        <a:spcBef>
          <a:spcPts val="300"/>
        </a:spcBef>
        <a:buClrTx/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Calibri" panose="020F0502020204030204" pitchFamily="34" charset="0"/>
          <a:ea typeface="+mn-ea"/>
          <a:cs typeface="+mn-cs"/>
        </a:defRPr>
      </a:lvl4pPr>
      <a:lvl5pPr marL="1645920" indent="-164465" algn="l" defTabSz="914400" rtl="0" eaLnBrk="1" latinLnBrk="0" hangingPunct="1">
        <a:spcBef>
          <a:spcPts val="300"/>
        </a:spcBef>
        <a:buClrTx/>
        <a:buFont typeface="Arial" panose="020B0604020202020204" pitchFamily="34" charset="0"/>
        <a:buChar char="•"/>
        <a:defRPr sz="1400" kern="1200">
          <a:solidFill>
            <a:schemeClr val="bg1"/>
          </a:solidFill>
          <a:latin typeface="Calibri" panose="020F050202020403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13245" y="1038224"/>
            <a:ext cx="11338560" cy="5280659"/>
          </a:xfrm>
        </p:spPr>
        <p:txBody>
          <a:bodyPr/>
          <a:lstStyle/>
          <a:p>
            <a:r>
              <a:rPr lang="zh-CN" altLang="en-US" sz="2800" b="1" dirty="0">
                <a:latin typeface="+mn-ea"/>
              </a:rPr>
              <a:t>概述：</a:t>
            </a:r>
            <a:endParaRPr lang="en-US" altLang="zh-CN" sz="2800" b="1" dirty="0">
              <a:latin typeface="+mn-ea"/>
            </a:endParaRPr>
          </a:p>
          <a:p>
            <a:pPr lvl="1"/>
            <a:r>
              <a:rPr lang="zh-CN" altLang="en-US" sz="2400" dirty="0">
                <a:latin typeface="+mn-ea"/>
              </a:rPr>
              <a:t>使用方法</a:t>
            </a:r>
            <a:endParaRPr lang="zh-CN" altLang="en-US" sz="2400" dirty="0">
              <a:latin typeface="+mn-ea"/>
            </a:endParaRPr>
          </a:p>
          <a:p>
            <a:pPr lvl="2"/>
            <a:r>
              <a:rPr lang="en-US" altLang="zh-CN" sz="2000" dirty="0">
                <a:latin typeface="+mn-ea"/>
              </a:rPr>
              <a:t>cd</a:t>
            </a:r>
            <a:r>
              <a:rPr lang="zh-CN" altLang="en-US" sz="2000" dirty="0">
                <a:latin typeface="+mn-ea"/>
              </a:rPr>
              <a:t>到</a:t>
            </a:r>
            <a:r>
              <a:rPr lang="en-US" altLang="zh-CN" sz="2000" dirty="0" err="1">
                <a:latin typeface="+mn-ea"/>
              </a:rPr>
              <a:t>StandAlone</a:t>
            </a:r>
            <a:r>
              <a:rPr lang="zh-CN" altLang="en-US" sz="2000" dirty="0">
                <a:latin typeface="+mn-ea"/>
              </a:rPr>
              <a:t>目录中</a:t>
            </a:r>
            <a:endParaRPr lang="zh-CN" altLang="en-US" sz="2000" dirty="0">
              <a:latin typeface="+mn-ea"/>
            </a:endParaRPr>
          </a:p>
          <a:p>
            <a:pPr lvl="2"/>
            <a:r>
              <a:rPr lang="en-US" altLang="zh-CN" sz="2000" dirty="0">
                <a:latin typeface="+mn-ea"/>
              </a:rPr>
              <a:t>./StandAlone.exe</a:t>
            </a:r>
            <a:endParaRPr lang="en-US" altLang="zh-CN" sz="2000" dirty="0">
              <a:latin typeface="+mn-ea"/>
            </a:endParaRPr>
          </a:p>
          <a:p>
            <a:pPr lvl="3"/>
            <a:r>
              <a:rPr lang="en-US" altLang="zh-CN" dirty="0">
                <a:latin typeface="+mn-ea"/>
              </a:rPr>
              <a:t>-</a:t>
            </a:r>
            <a:r>
              <a:rPr lang="en-US" altLang="zh-CN" dirty="0" err="1">
                <a:latin typeface="+mn-ea"/>
              </a:rPr>
              <a:t>i</a:t>
            </a:r>
            <a:r>
              <a:rPr lang="en-US" altLang="zh-CN" dirty="0">
                <a:latin typeface="+mn-ea"/>
              </a:rPr>
              <a:t> : </a:t>
            </a:r>
            <a:r>
              <a:rPr lang="zh-CN" altLang="en-US" dirty="0">
                <a:latin typeface="+mn-ea"/>
              </a:rPr>
              <a:t>打印语法树</a:t>
            </a:r>
            <a:endParaRPr lang="zh-CN" altLang="en-US" dirty="0">
              <a:latin typeface="+mn-ea"/>
            </a:endParaRPr>
          </a:p>
          <a:p>
            <a:pPr lvl="3"/>
            <a:r>
              <a:rPr lang="en-US" altLang="zh-CN" dirty="0">
                <a:latin typeface="+mn-ea"/>
              </a:rPr>
              <a:t>-m : dump link </a:t>
            </a:r>
            <a:r>
              <a:rPr lang="zh-CN" altLang="en-US" dirty="0">
                <a:latin typeface="+mn-ea"/>
              </a:rPr>
              <a:t>结果（无效）</a:t>
            </a:r>
            <a:endParaRPr lang="zh-CN" altLang="en-US" dirty="0">
              <a:latin typeface="+mn-ea"/>
            </a:endParaRPr>
          </a:p>
          <a:p>
            <a:pPr lvl="3"/>
            <a:r>
              <a:rPr lang="en-US" altLang="zh-CN" dirty="0">
                <a:latin typeface="+mn-ea"/>
              </a:rPr>
              <a:t>-a : dump assembly </a:t>
            </a:r>
            <a:r>
              <a:rPr lang="zh-CN" altLang="en-US" dirty="0">
                <a:latin typeface="+mn-ea"/>
              </a:rPr>
              <a:t>结果（无效）</a:t>
            </a:r>
            <a:endParaRPr lang="en-US" altLang="zh-CN" dirty="0">
              <a:latin typeface="+mn-ea"/>
            </a:endParaRPr>
          </a:p>
          <a:p>
            <a:pPr lvl="2"/>
            <a:endParaRPr lang="en-US" altLang="zh-CN" sz="20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glslang</a:t>
            </a:r>
            <a:r>
              <a:rPr lang="en-US" altLang="zh-CN" dirty="0"/>
              <a:t> 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概述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13245" y="1038224"/>
            <a:ext cx="11338560" cy="5280659"/>
          </a:xfrm>
        </p:spPr>
        <p:txBody>
          <a:bodyPr/>
          <a:lstStyle/>
          <a:p>
            <a:r>
              <a:rPr lang="zh-CN" altLang="en-US" sz="2800" b="1" dirty="0">
                <a:latin typeface="+mn-ea"/>
              </a:rPr>
              <a:t>概述：</a:t>
            </a:r>
            <a:endParaRPr lang="en-US" altLang="zh-CN" sz="2800" b="1" dirty="0">
              <a:latin typeface="+mn-ea"/>
            </a:endParaRPr>
          </a:p>
          <a:p>
            <a:pPr lvl="1"/>
            <a:r>
              <a:rPr lang="en-US" altLang="zh-CN" sz="2400" dirty="0">
                <a:latin typeface="+mn-ea"/>
              </a:rPr>
              <a:t>VS</a:t>
            </a:r>
            <a:r>
              <a:rPr lang="zh-CN" altLang="en-US" sz="2400" dirty="0">
                <a:latin typeface="+mn-ea"/>
              </a:rPr>
              <a:t>调试方法</a:t>
            </a:r>
            <a:endParaRPr lang="en-US" altLang="zh-CN" sz="2400" dirty="0">
              <a:latin typeface="+mn-ea"/>
            </a:endParaRPr>
          </a:p>
          <a:p>
            <a:pPr lvl="2"/>
            <a:r>
              <a:rPr lang="zh-CN" altLang="en-US" sz="2000" dirty="0">
                <a:latin typeface="+mn-ea"/>
              </a:rPr>
              <a:t>在</a:t>
            </a:r>
            <a:r>
              <a:rPr lang="en-US" altLang="zh-CN" sz="2000" dirty="0" err="1">
                <a:latin typeface="+mn-ea"/>
              </a:rPr>
              <a:t>glslang</a:t>
            </a:r>
            <a:r>
              <a:rPr lang="zh-CN" altLang="en-US" sz="2000" dirty="0">
                <a:latin typeface="+mn-ea"/>
              </a:rPr>
              <a:t>工程的生成后事件中添加</a:t>
            </a:r>
            <a:endParaRPr lang="en-US" altLang="zh-CN" sz="2000" dirty="0">
              <a:latin typeface="+mn-ea"/>
            </a:endParaRPr>
          </a:p>
          <a:p>
            <a:pPr lvl="3"/>
            <a:r>
              <a:rPr lang="en-US" altLang="zh-CN" dirty="0" err="1">
                <a:latin typeface="+mn-ea"/>
              </a:rPr>
              <a:t>xcopy</a:t>
            </a:r>
            <a:r>
              <a:rPr lang="en-US" altLang="zh-CN" dirty="0">
                <a:latin typeface="+mn-ea"/>
              </a:rPr>
              <a:t> /y </a:t>
            </a:r>
            <a:r>
              <a:rPr lang="en-US" altLang="zh-CN" dirty="0" err="1">
                <a:latin typeface="+mn-ea"/>
              </a:rPr>
              <a:t>UserM_Debug</a:t>
            </a:r>
            <a:r>
              <a:rPr lang="en-US" altLang="zh-CN" dirty="0">
                <a:latin typeface="+mn-ea"/>
              </a:rPr>
              <a:t>\generic\glslang.* </a:t>
            </a:r>
            <a:r>
              <a:rPr lang="en-US" altLang="zh-CN" dirty="0" err="1">
                <a:latin typeface="+mn-ea"/>
              </a:rPr>
              <a:t>UserM_Debug</a:t>
            </a:r>
            <a:endParaRPr lang="en-US" altLang="zh-CN" dirty="0">
              <a:latin typeface="+mn-ea"/>
            </a:endParaRPr>
          </a:p>
          <a:p>
            <a:pPr lvl="3"/>
            <a:r>
              <a:rPr lang="zh-CN" altLang="en-US" dirty="0">
                <a:latin typeface="+mn-ea"/>
              </a:rPr>
              <a:t>即将生成的</a:t>
            </a:r>
            <a:r>
              <a:rPr lang="en-US" altLang="zh-CN" dirty="0" err="1">
                <a:latin typeface="+mn-ea"/>
              </a:rPr>
              <a:t>dll</a:t>
            </a:r>
            <a:r>
              <a:rPr lang="zh-CN" altLang="en-US" dirty="0">
                <a:latin typeface="+mn-ea"/>
              </a:rPr>
              <a:t>文件从</a:t>
            </a:r>
            <a:r>
              <a:rPr lang="en-US" altLang="zh-CN" dirty="0" err="1">
                <a:latin typeface="+mn-ea"/>
              </a:rPr>
              <a:t>User_Debug</a:t>
            </a:r>
            <a:r>
              <a:rPr lang="en-US" altLang="zh-CN" dirty="0">
                <a:latin typeface="+mn-ea"/>
              </a:rPr>
              <a:t>\generic</a:t>
            </a:r>
            <a:r>
              <a:rPr lang="zh-CN" altLang="en-US" dirty="0">
                <a:latin typeface="+mn-ea"/>
              </a:rPr>
              <a:t>拷贝到</a:t>
            </a:r>
            <a:r>
              <a:rPr lang="en-US" altLang="zh-CN" dirty="0" err="1">
                <a:latin typeface="+mn-ea"/>
              </a:rPr>
              <a:t>User_debug</a:t>
            </a:r>
            <a:r>
              <a:rPr lang="zh-CN" altLang="en-US" dirty="0">
                <a:latin typeface="+mn-ea"/>
              </a:rPr>
              <a:t>目录中</a:t>
            </a:r>
            <a:endParaRPr lang="zh-CN" altLang="en-US" dirty="0">
              <a:latin typeface="+mn-ea"/>
            </a:endParaRPr>
          </a:p>
          <a:p>
            <a:pPr lvl="2"/>
            <a:r>
              <a:rPr lang="zh-CN" altLang="en-US" sz="2000" dirty="0">
                <a:latin typeface="+mn-ea"/>
              </a:rPr>
              <a:t>在</a:t>
            </a:r>
            <a:r>
              <a:rPr lang="en-US" altLang="zh-CN" sz="2000" dirty="0" err="1">
                <a:latin typeface="+mn-ea"/>
              </a:rPr>
              <a:t>StandAlong</a:t>
            </a:r>
            <a:r>
              <a:rPr lang="zh-CN" altLang="en-US" sz="2000" dirty="0">
                <a:latin typeface="+mn-ea"/>
              </a:rPr>
              <a:t>工程的调试选项卡中</a:t>
            </a:r>
            <a:endParaRPr lang="en-US" altLang="zh-CN" sz="2000" dirty="0">
              <a:latin typeface="+mn-ea"/>
            </a:endParaRPr>
          </a:p>
          <a:p>
            <a:pPr lvl="3"/>
            <a:r>
              <a:rPr lang="zh-CN" altLang="en-US" dirty="0">
                <a:latin typeface="+mn-ea"/>
              </a:rPr>
              <a:t>设置工作目录为</a:t>
            </a:r>
            <a:r>
              <a:rPr lang="en-US" altLang="zh-CN" dirty="0">
                <a:latin typeface="+mn-ea"/>
              </a:rPr>
              <a:t>F:\work\glslang\UserM_Debug\</a:t>
            </a:r>
            <a:endParaRPr lang="en-US" altLang="zh-CN" dirty="0">
              <a:latin typeface="+mn-ea"/>
            </a:endParaRPr>
          </a:p>
          <a:p>
            <a:pPr lvl="3"/>
            <a:r>
              <a:rPr lang="zh-CN" altLang="en-US" dirty="0">
                <a:latin typeface="+mn-ea"/>
              </a:rPr>
              <a:t>设置命令为</a:t>
            </a:r>
            <a:r>
              <a:rPr lang="en-US" altLang="zh-CN" dirty="0">
                <a:latin typeface="+mn-ea"/>
              </a:rPr>
              <a:t>StandAlone.exe</a:t>
            </a:r>
            <a:endParaRPr lang="en-US" altLang="zh-CN" dirty="0">
              <a:latin typeface="+mn-ea"/>
            </a:endParaRPr>
          </a:p>
          <a:p>
            <a:pPr lvl="3"/>
            <a:r>
              <a:rPr lang="zh-CN" altLang="en-US" dirty="0">
                <a:latin typeface="+mn-ea"/>
              </a:rPr>
              <a:t>设置参数为</a:t>
            </a:r>
            <a:r>
              <a:rPr lang="en-US" altLang="zh-CN" dirty="0">
                <a:latin typeface="+mn-ea"/>
              </a:rPr>
              <a:t>shader</a:t>
            </a:r>
            <a:r>
              <a:rPr lang="zh-CN" altLang="en-US" dirty="0">
                <a:latin typeface="+mn-ea"/>
              </a:rPr>
              <a:t>文件路径和文件名</a:t>
            </a:r>
            <a:endParaRPr lang="en-US" altLang="zh-CN" dirty="0">
              <a:latin typeface="+mn-ea"/>
            </a:endParaRPr>
          </a:p>
          <a:p>
            <a:pPr lvl="2"/>
            <a:endParaRPr lang="en-US" altLang="zh-CN" sz="20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glslang</a:t>
            </a:r>
            <a:r>
              <a:rPr lang="en-US" altLang="zh-CN" dirty="0"/>
              <a:t> 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概述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13245" y="1038224"/>
            <a:ext cx="11338560" cy="5280659"/>
          </a:xfrm>
        </p:spPr>
        <p:txBody>
          <a:bodyPr/>
          <a:lstStyle/>
          <a:p>
            <a:r>
              <a:rPr lang="zh-CN" altLang="en-US" sz="2800" b="1" dirty="0">
                <a:latin typeface="+mn-ea"/>
              </a:rPr>
              <a:t>概述：</a:t>
            </a:r>
            <a:endParaRPr lang="en-US" altLang="zh-CN" sz="2800" b="1" dirty="0">
              <a:latin typeface="+mn-ea"/>
            </a:endParaRPr>
          </a:p>
          <a:p>
            <a:pPr lvl="1"/>
            <a:r>
              <a:rPr lang="zh-CN" altLang="en-US" sz="2400" dirty="0">
                <a:latin typeface="+mn-ea"/>
              </a:rPr>
              <a:t>文件目录组织</a:t>
            </a:r>
            <a:endParaRPr lang="en-US" altLang="zh-CN" sz="2400" dirty="0">
              <a:latin typeface="+mn-ea"/>
            </a:endParaRPr>
          </a:p>
          <a:p>
            <a:pPr lvl="2"/>
            <a:r>
              <a:rPr lang="en-US" altLang="zh-CN" sz="2000" dirty="0" err="1">
                <a:latin typeface="+mn-ea"/>
              </a:rPr>
              <a:t>glslang</a:t>
            </a:r>
            <a:r>
              <a:rPr lang="en-US" altLang="zh-CN" sz="2000" dirty="0">
                <a:latin typeface="+mn-ea"/>
              </a:rPr>
              <a:t>/Include/ </a:t>
            </a:r>
            <a:r>
              <a:rPr lang="zh-CN" altLang="en-US" sz="2000" dirty="0">
                <a:latin typeface="+mn-ea"/>
              </a:rPr>
              <a:t>包含</a:t>
            </a:r>
            <a:r>
              <a:rPr lang="en-US" altLang="zh-CN" sz="2000" dirty="0" err="1">
                <a:latin typeface="+mn-ea"/>
              </a:rPr>
              <a:t>glslang</a:t>
            </a:r>
            <a:r>
              <a:rPr lang="zh-CN" altLang="en-US" sz="2000" dirty="0">
                <a:latin typeface="+mn-ea"/>
              </a:rPr>
              <a:t>内部共享头文件</a:t>
            </a:r>
            <a:endParaRPr lang="zh-CN" altLang="en-US" sz="2000" dirty="0">
              <a:latin typeface="+mn-ea"/>
            </a:endParaRPr>
          </a:p>
          <a:p>
            <a:pPr lvl="2"/>
            <a:r>
              <a:rPr lang="en-US" altLang="zh-CN" sz="2000" dirty="0" err="1">
                <a:latin typeface="+mn-ea"/>
              </a:rPr>
              <a:t>glslang</a:t>
            </a:r>
            <a:r>
              <a:rPr lang="en-US" altLang="zh-CN" sz="2000" dirty="0">
                <a:latin typeface="+mn-ea"/>
              </a:rPr>
              <a:t>/Public/  </a:t>
            </a:r>
            <a:r>
              <a:rPr lang="zh-CN" altLang="en-US" sz="2000" dirty="0">
                <a:latin typeface="+mn-ea"/>
              </a:rPr>
              <a:t>包含对外的头文件</a:t>
            </a:r>
            <a:endParaRPr lang="zh-CN" altLang="en-US" sz="2000" dirty="0">
              <a:latin typeface="+mn-ea"/>
            </a:endParaRPr>
          </a:p>
          <a:p>
            <a:pPr lvl="1"/>
            <a:r>
              <a:rPr lang="zh-CN" altLang="en-US" sz="2400" dirty="0">
                <a:latin typeface="+mn-ea"/>
              </a:rPr>
              <a:t>使用范例</a:t>
            </a:r>
            <a:endParaRPr lang="zh-CN" altLang="en-US" sz="2400" dirty="0">
              <a:latin typeface="+mn-ea"/>
            </a:endParaRPr>
          </a:p>
          <a:p>
            <a:pPr lvl="2"/>
            <a:r>
              <a:rPr lang="en-US" altLang="zh-CN" sz="2000" dirty="0">
                <a:latin typeface="+mn-ea"/>
              </a:rPr>
              <a:t>IntermOut.cpp:  </a:t>
            </a:r>
            <a:r>
              <a:rPr lang="zh-CN" altLang="en-US" sz="2000" dirty="0">
                <a:latin typeface="+mn-ea"/>
              </a:rPr>
              <a:t>输出语法树，遍历语法树的示例</a:t>
            </a:r>
            <a:endParaRPr lang="zh-CN" altLang="en-US" sz="2000" dirty="0">
              <a:latin typeface="+mn-ea"/>
            </a:endParaRPr>
          </a:p>
          <a:p>
            <a:pPr lvl="2"/>
            <a:r>
              <a:rPr lang="en-US" altLang="zh-CN" sz="2000" dirty="0">
                <a:latin typeface="+mn-ea"/>
              </a:rPr>
              <a:t>CodeGen.cpp:    </a:t>
            </a:r>
            <a:r>
              <a:rPr lang="zh-CN" altLang="en-US" sz="2000" dirty="0">
                <a:latin typeface="+mn-ea"/>
              </a:rPr>
              <a:t>后端的基本接口</a:t>
            </a:r>
            <a:endParaRPr lang="zh-CN" altLang="en-US" sz="2000" dirty="0">
              <a:latin typeface="+mn-ea"/>
            </a:endParaRPr>
          </a:p>
          <a:p>
            <a:pPr lvl="2"/>
            <a:r>
              <a:rPr lang="en-US" altLang="zh-CN" sz="2000" dirty="0">
                <a:latin typeface="+mn-ea"/>
              </a:rPr>
              <a:t>Link.cpp:       </a:t>
            </a:r>
            <a:r>
              <a:rPr lang="zh-CN" altLang="en-US" sz="2000" dirty="0">
                <a:latin typeface="+mn-ea"/>
              </a:rPr>
              <a:t>链接器的基本接口</a:t>
            </a:r>
            <a:endParaRPr lang="zh-CN" altLang="en-US" sz="2000" dirty="0">
              <a:latin typeface="+mn-ea"/>
            </a:endParaRPr>
          </a:p>
          <a:p>
            <a:pPr lvl="2"/>
            <a:r>
              <a:rPr lang="en-US" altLang="zh-CN" sz="2000" dirty="0" err="1">
                <a:latin typeface="+mn-ea"/>
              </a:rPr>
              <a:t>Intermediate.h</a:t>
            </a:r>
            <a:r>
              <a:rPr lang="en-US" altLang="zh-CN" sz="2000" dirty="0">
                <a:latin typeface="+mn-ea"/>
              </a:rPr>
              <a:t>: </a:t>
            </a:r>
            <a:r>
              <a:rPr lang="zh-CN" altLang="en-US" sz="2000" dirty="0">
                <a:latin typeface="+mn-ea"/>
              </a:rPr>
              <a:t>语法树的数据结构</a:t>
            </a:r>
            <a:endParaRPr lang="en-US" altLang="zh-CN" sz="2000" dirty="0">
              <a:latin typeface="+mn-ea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glslang</a:t>
            </a:r>
            <a:r>
              <a:rPr lang="en-US" altLang="zh-CN" dirty="0"/>
              <a:t> 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代码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13245" y="1038224"/>
            <a:ext cx="11338560" cy="5280659"/>
          </a:xfrm>
        </p:spPr>
        <p:txBody>
          <a:bodyPr/>
          <a:lstStyle/>
          <a:p>
            <a:r>
              <a:rPr lang="zh-CN" altLang="en-US" sz="2800" b="1" dirty="0">
                <a:latin typeface="+mn-ea"/>
              </a:rPr>
              <a:t>文件组织</a:t>
            </a:r>
            <a:r>
              <a:rPr lang="zh-CN" altLang="en-US" sz="2800" b="1" dirty="0">
                <a:latin typeface="+mn-ea"/>
              </a:rPr>
              <a:t>：</a:t>
            </a:r>
            <a:endParaRPr lang="en-US" altLang="zh-CN" sz="2800" b="1" dirty="0">
              <a:latin typeface="+mn-ea"/>
            </a:endParaRPr>
          </a:p>
          <a:p>
            <a:pPr lvl="2"/>
            <a:r>
              <a:rPr lang="en-US" altLang="zh-CN" sz="2000" dirty="0">
                <a:latin typeface="+mn-ea"/>
                <a:sym typeface="+mn-ea"/>
              </a:rPr>
              <a:t>\glslang\Include\Types.h</a:t>
            </a:r>
            <a:r>
              <a:rPr lang="zh-CN" altLang="en-US" sz="2000" dirty="0">
                <a:latin typeface="+mn-ea"/>
                <a:sym typeface="+mn-ea"/>
              </a:rPr>
              <a:t>：节点的类型的</a:t>
            </a:r>
            <a:r>
              <a:rPr lang="en-US" altLang="zh-CN" sz="2000" dirty="0">
                <a:latin typeface="+mn-ea"/>
                <a:sym typeface="+mn-ea"/>
              </a:rPr>
              <a:t>class</a:t>
            </a:r>
            <a:r>
              <a:rPr lang="zh-CN" altLang="en-US" sz="2000" dirty="0">
                <a:latin typeface="+mn-ea"/>
                <a:sym typeface="+mn-ea"/>
              </a:rPr>
              <a:t>定义</a:t>
            </a:r>
            <a:endParaRPr lang="zh-CN" altLang="en-US" sz="2000" dirty="0">
              <a:latin typeface="+mn-ea"/>
            </a:endParaRPr>
          </a:p>
          <a:p>
            <a:pPr lvl="2"/>
            <a:r>
              <a:rPr lang="zh-CN" altLang="en-US" sz="2000">
                <a:latin typeface="+mn-ea"/>
                <a:sym typeface="+mn-ea"/>
              </a:rPr>
              <a:t>\glslang\Include\intermediate.h：各个类型的节点的定义，遍历器基类型的定义</a:t>
            </a:r>
            <a:endParaRPr lang="zh-CN" altLang="en-US" sz="2000" dirty="0">
              <a:latin typeface="+mn-ea"/>
            </a:endParaRPr>
          </a:p>
          <a:p>
            <a:pPr lvl="2"/>
            <a:r>
              <a:rPr lang="zh-CN" altLang="en-US" sz="2000">
                <a:latin typeface="+mn-ea"/>
                <a:sym typeface="+mn-ea"/>
              </a:rPr>
              <a:t>\glslang\MachineIndependent\localintermediate.h 和 \glslang\MachineIndependent\Intermediate.cpp：语法树的工具函数</a:t>
            </a:r>
            <a:endParaRPr lang="zh-CN" altLang="en-US" sz="2000">
              <a:latin typeface="+mn-ea"/>
              <a:sym typeface="+mn-ea"/>
            </a:endParaRPr>
          </a:p>
          <a:p>
            <a:pPr lvl="2"/>
            <a:r>
              <a:rPr lang="zh-CN" altLang="en-US" sz="2000">
                <a:latin typeface="+mn-ea"/>
                <a:sym typeface="+mn-ea"/>
              </a:rPr>
              <a:t>\glslang\MachineIndependent\IntermTraverse.cpp：各节点遍历函数的实现</a:t>
            </a:r>
            <a:endParaRPr lang="zh-CN" altLang="en-US" sz="2000">
              <a:latin typeface="+mn-ea"/>
              <a:sym typeface="+mn-ea"/>
            </a:endParaRPr>
          </a:p>
          <a:p>
            <a:pPr lvl="2"/>
            <a:r>
              <a:rPr lang="zh-CN" altLang="en-US" sz="2000">
                <a:latin typeface="+mn-ea"/>
                <a:sym typeface="+mn-ea"/>
              </a:rPr>
              <a:t>\glslang\MachineIndependent\intermOut.cpp</a:t>
            </a:r>
            <a:r>
              <a:rPr lang="zh-CN" altLang="en-US" sz="2000">
                <a:latin typeface="+mn-ea"/>
                <a:sym typeface="+mn-ea"/>
              </a:rPr>
              <a:t>：遍历语法树的示例，输出语法树</a:t>
            </a:r>
            <a:endParaRPr lang="zh-CN" altLang="en-US" sz="2000">
              <a:latin typeface="+mn-ea"/>
              <a:sym typeface="+mn-ea"/>
            </a:endParaRPr>
          </a:p>
          <a:p>
            <a:pPr lvl="2"/>
            <a:r>
              <a:rPr lang="zh-CN" altLang="en-US" sz="2000">
                <a:latin typeface="+mn-ea"/>
                <a:sym typeface="+mn-ea"/>
              </a:rPr>
              <a:t>\glslang\Public\ShaderLang.h</a:t>
            </a:r>
            <a:endParaRPr lang="zh-CN" altLang="en-US" sz="2000">
              <a:latin typeface="+mn-ea"/>
              <a:sym typeface="+mn-ea"/>
            </a:endParaRPr>
          </a:p>
          <a:p>
            <a:pPr lvl="2"/>
            <a:r>
              <a:rPr lang="zh-CN" altLang="en-US" sz="2000" dirty="0">
                <a:latin typeface="+mn-ea"/>
              </a:rPr>
              <a:t>\glslang\MachineIndependent\ShaderLang.cpp：对外（</a:t>
            </a:r>
            <a:r>
              <a:rPr lang="en-US" altLang="zh-CN" sz="2000" dirty="0">
                <a:latin typeface="+mn-ea"/>
              </a:rPr>
              <a:t>OPENGL UMD</a:t>
            </a:r>
            <a:r>
              <a:rPr lang="zh-CN" altLang="en-US" sz="2000" dirty="0">
                <a:latin typeface="+mn-ea"/>
              </a:rPr>
              <a:t>）接口函数</a:t>
            </a:r>
            <a:endParaRPr lang="zh-CN" altLang="en-US" sz="2000" dirty="0">
              <a:latin typeface="+mn-ea"/>
            </a:endParaRPr>
          </a:p>
          <a:p>
            <a:pPr lvl="2"/>
            <a:r>
              <a:rPr lang="zh-CN" altLang="en-US" sz="2000">
                <a:latin typeface="+mn-ea"/>
                <a:sym typeface="+mn-ea"/>
              </a:rPr>
              <a:t>\glslang\MachineIndependent\ParseHelper.h</a:t>
            </a:r>
            <a:r>
              <a:rPr lang="zh-CN" altLang="en-US" sz="2000" dirty="0">
                <a:latin typeface="+mn-ea"/>
              </a:rPr>
              <a:t>：编译</a:t>
            </a:r>
            <a:r>
              <a:rPr lang="en-US" altLang="zh-CN" sz="2000" dirty="0">
                <a:latin typeface="+mn-ea"/>
              </a:rPr>
              <a:t>shader</a:t>
            </a:r>
            <a:r>
              <a:rPr lang="zh-CN" altLang="en-US" sz="2000" dirty="0">
                <a:latin typeface="+mn-ea"/>
              </a:rPr>
              <a:t>的</a:t>
            </a:r>
            <a:r>
              <a:rPr lang="en-US" altLang="zh-CN" sz="2000" dirty="0">
                <a:latin typeface="+mn-ea"/>
              </a:rPr>
              <a:t>context</a:t>
            </a:r>
            <a:endParaRPr lang="en-US" altLang="zh-CN" sz="2000" dirty="0">
              <a:latin typeface="+mn-ea"/>
            </a:endParaRPr>
          </a:p>
          <a:p>
            <a:pPr lvl="2"/>
            <a:r>
              <a:rPr lang="zh-CN" altLang="en-US" sz="2000" dirty="0">
                <a:latin typeface="+mn-ea"/>
              </a:rPr>
              <a:t>\glslang\MachineIndependent\SymbolTable.h</a:t>
            </a:r>
            <a:endParaRPr lang="zh-CN" altLang="en-US" sz="2000" dirty="0">
              <a:latin typeface="+mn-ea"/>
            </a:endParaRPr>
          </a:p>
          <a:p>
            <a:pPr lvl="2"/>
            <a:r>
              <a:rPr lang="zh-CN" altLang="en-US" sz="2000" dirty="0">
                <a:latin typeface="+mn-ea"/>
              </a:rPr>
              <a:t>\glslang\MachineIndependent\SymbolTable.cpp：符号表相关</a:t>
            </a:r>
            <a:endParaRPr lang="zh-CN" altLang="en-US" sz="2000" dirty="0">
              <a:latin typeface="+mn-ea"/>
            </a:endParaRPr>
          </a:p>
          <a:p>
            <a:pPr lvl="2"/>
            <a:r>
              <a:rPr lang="zh-CN" altLang="en-US" sz="2000" dirty="0">
                <a:latin typeface="+mn-ea"/>
              </a:rPr>
              <a:t>\glslang\MachineIndependent\Initialize.cpp：</a:t>
            </a:r>
            <a:r>
              <a:rPr lang="en-US" altLang="zh-CN" sz="2000" dirty="0">
                <a:latin typeface="+mn-ea"/>
              </a:rPr>
              <a:t>built-in</a:t>
            </a:r>
            <a:r>
              <a:rPr lang="zh-CN" altLang="en-US" sz="2000" dirty="0">
                <a:latin typeface="+mn-ea"/>
              </a:rPr>
              <a:t>初始化相关</a:t>
            </a:r>
            <a:endParaRPr lang="zh-CN" altLang="en-US" sz="2000" dirty="0">
              <a:latin typeface="+mn-ea"/>
            </a:endParaRPr>
          </a:p>
          <a:p>
            <a:pPr lvl="2"/>
            <a:endParaRPr lang="en-US" altLang="zh-CN" sz="2000" dirty="0">
              <a:latin typeface="+mn-ea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glslang</a:t>
            </a:r>
            <a:r>
              <a:rPr lang="en-US" altLang="zh-CN" dirty="0"/>
              <a:t> 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代码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13245" y="1038224"/>
            <a:ext cx="11338560" cy="5280659"/>
          </a:xfrm>
        </p:spPr>
        <p:txBody>
          <a:bodyPr/>
          <a:lstStyle/>
          <a:p>
            <a:r>
              <a:rPr lang="zh-CN" altLang="en-US" sz="2800" b="1">
                <a:latin typeface="+mn-ea"/>
                <a:sym typeface="+mn-ea"/>
              </a:rPr>
              <a:t>接口</a:t>
            </a:r>
            <a:r>
              <a:rPr lang="zh-CN" altLang="en-US" sz="2800" b="1">
                <a:latin typeface="+mn-ea"/>
              </a:rPr>
              <a:t>：</a:t>
            </a:r>
            <a:endParaRPr lang="zh-CN" altLang="en-US" sz="2800" b="1">
              <a:latin typeface="+mn-ea"/>
            </a:endParaRPr>
          </a:p>
          <a:p>
            <a:pPr lvl="1"/>
            <a:r>
              <a:rPr lang="zh-CN" altLang="en-US" sz="2400">
                <a:latin typeface="+mn-ea"/>
              </a:rPr>
              <a:t>编译器对驱动接口定义在文件\glslang\MachineIndependent\ShaderLang.cpp中</a:t>
            </a:r>
            <a:endParaRPr lang="zh-CN" altLang="en-US" sz="2400">
              <a:latin typeface="+mn-ea"/>
            </a:endParaRPr>
          </a:p>
          <a:p>
            <a:pPr lvl="2"/>
            <a:r>
              <a:rPr lang="zh-CN" altLang="en-US" sz="2000" b="1">
                <a:solidFill>
                  <a:schemeClr val="accent1"/>
                </a:solidFill>
                <a:latin typeface="+mn-ea"/>
              </a:rPr>
              <a:t>ShInitialize</a:t>
            </a:r>
            <a:r>
              <a:rPr lang="en-US" altLang="zh-CN" sz="2000">
                <a:latin typeface="+mn-ea"/>
              </a:rPr>
              <a:t>(): </a:t>
            </a:r>
            <a:r>
              <a:rPr lang="zh-CN" altLang="en-US" sz="2000">
                <a:latin typeface="+mn-ea"/>
              </a:rPr>
              <a:t>初始化编译器，建立</a:t>
            </a:r>
            <a:r>
              <a:rPr lang="en-US" altLang="zh-CN" sz="2000">
                <a:latin typeface="+mn-ea"/>
              </a:rPr>
              <a:t>built-in</a:t>
            </a:r>
            <a:r>
              <a:rPr lang="zh-CN" altLang="en-US" sz="2000">
                <a:latin typeface="+mn-ea"/>
              </a:rPr>
              <a:t>符号表等</a:t>
            </a:r>
            <a:endParaRPr lang="zh-CN" altLang="en-US" sz="2000">
              <a:latin typeface="+mn-ea"/>
            </a:endParaRPr>
          </a:p>
          <a:p>
            <a:pPr lvl="3"/>
            <a:r>
              <a:rPr lang="zh-CN" altLang="en-US">
                <a:latin typeface="+mn-ea"/>
              </a:rPr>
              <a:t>输出：全局变量符号表</a:t>
            </a:r>
            <a:r>
              <a:rPr lang="zh-CN" altLang="en-US" b="1">
                <a:solidFill>
                  <a:srgbClr val="00B050"/>
                </a:solidFill>
                <a:latin typeface="+mn-ea"/>
              </a:rPr>
              <a:t>SymbolTables</a:t>
            </a:r>
            <a:endParaRPr lang="zh-CN" altLang="en-US">
              <a:latin typeface="+mn-ea"/>
            </a:endParaRPr>
          </a:p>
          <a:p>
            <a:pPr lvl="2"/>
            <a:r>
              <a:rPr lang="en-US" altLang="zh-CN" sz="2000" b="1">
                <a:solidFill>
                  <a:schemeClr val="accent1"/>
                </a:solidFill>
                <a:latin typeface="+mn-ea"/>
              </a:rPr>
              <a:t>ShCompile</a:t>
            </a:r>
            <a:r>
              <a:rPr lang="en-US" altLang="zh-CN" sz="2000">
                <a:latin typeface="+mn-ea"/>
              </a:rPr>
              <a:t>(): </a:t>
            </a:r>
            <a:r>
              <a:rPr lang="zh-CN" altLang="en-US" sz="2000">
                <a:latin typeface="+mn-ea"/>
              </a:rPr>
              <a:t>编译</a:t>
            </a:r>
            <a:r>
              <a:rPr lang="en-US" altLang="zh-CN" sz="2000">
                <a:latin typeface="+mn-ea"/>
              </a:rPr>
              <a:t>shader</a:t>
            </a:r>
            <a:r>
              <a:rPr lang="zh-CN" altLang="en-US" sz="2000">
                <a:latin typeface="+mn-ea"/>
              </a:rPr>
              <a:t>程序字符串，到</a:t>
            </a:r>
            <a:r>
              <a:rPr lang="zh-CN" altLang="en-US" sz="2000">
                <a:latin typeface="+mn-ea"/>
              </a:rPr>
              <a:t>二进制</a:t>
            </a:r>
            <a:endParaRPr lang="zh-CN" altLang="en-US" sz="2000">
              <a:latin typeface="+mn-ea"/>
            </a:endParaRPr>
          </a:p>
          <a:p>
            <a:pPr lvl="3" algn="l">
              <a:buSzTx/>
            </a:pPr>
            <a:r>
              <a:rPr lang="zh-CN" altLang="en-US" sz="1800">
                <a:latin typeface="+mn-ea"/>
              </a:rPr>
              <a:t>输入：char* const shaderStrings[]：输入源程序</a:t>
            </a:r>
            <a:r>
              <a:rPr lang="zh-CN" altLang="en-US" sz="1800">
                <a:latin typeface="+mn-ea"/>
              </a:rPr>
              <a:t>字符串</a:t>
            </a:r>
            <a:endParaRPr lang="zh-CN" altLang="en-US" sz="1800">
              <a:latin typeface="+mn-ea"/>
            </a:endParaRPr>
          </a:p>
          <a:p>
            <a:pPr lvl="3" algn="l">
              <a:buSzTx/>
            </a:pPr>
            <a:r>
              <a:rPr lang="zh-CN" altLang="en-US" sz="1800">
                <a:latin typeface="+mn-ea"/>
              </a:rPr>
              <a:t>生成的编译结果：语法树在</a:t>
            </a:r>
            <a:r>
              <a:rPr lang="zh-CN" altLang="en-US" sz="1800" b="1">
                <a:solidFill>
                  <a:srgbClr val="00B050"/>
                </a:solidFill>
                <a:latin typeface="+mn-ea"/>
              </a:rPr>
              <a:t>parseContext</a:t>
            </a:r>
            <a:r>
              <a:rPr lang="zh-CN" altLang="en-US" sz="1800">
                <a:latin typeface="+mn-ea"/>
              </a:rPr>
              <a:t>.treeRoot，符号表在</a:t>
            </a:r>
            <a:r>
              <a:rPr lang="zh-CN" altLang="en-US" sz="1800" b="1">
                <a:solidFill>
                  <a:srgbClr val="00B050"/>
                </a:solidFill>
                <a:latin typeface="+mn-ea"/>
              </a:rPr>
              <a:t>parseContext</a:t>
            </a:r>
            <a:r>
              <a:rPr lang="zh-CN" altLang="en-US" sz="1800">
                <a:latin typeface="+mn-ea"/>
              </a:rPr>
              <a:t>.symbolTable</a:t>
            </a:r>
            <a:endParaRPr lang="zh-CN" altLang="en-US" sz="1800">
              <a:latin typeface="+mn-ea"/>
            </a:endParaRPr>
          </a:p>
          <a:p>
            <a:pPr lvl="3" algn="l">
              <a:buSzTx/>
            </a:pPr>
            <a:r>
              <a:rPr lang="zh-CN" altLang="en-US">
                <a:latin typeface="+mn-ea"/>
              </a:rPr>
              <a:t>编译语法树在PaParseStrings</a:t>
            </a:r>
            <a:r>
              <a:rPr lang="en-US" altLang="zh-CN">
                <a:latin typeface="+mn-ea"/>
              </a:rPr>
              <a:t>()</a:t>
            </a:r>
            <a:r>
              <a:rPr lang="zh-CN" altLang="en-US">
                <a:latin typeface="+mn-ea"/>
              </a:rPr>
              <a:t>函数</a:t>
            </a:r>
            <a:endParaRPr lang="zh-CN" altLang="en-US">
              <a:latin typeface="+mn-ea"/>
            </a:endParaRPr>
          </a:p>
          <a:p>
            <a:pPr lvl="3" algn="l">
              <a:buSzTx/>
            </a:pPr>
            <a:r>
              <a:rPr lang="zh-CN" altLang="en-US">
                <a:latin typeface="+mn-ea"/>
              </a:rPr>
              <a:t>生成二进制在compiler-&gt;</a:t>
            </a:r>
            <a:r>
              <a:rPr lang="zh-CN" altLang="en-US" b="1">
                <a:solidFill>
                  <a:schemeClr val="accent1"/>
                </a:solidFill>
                <a:latin typeface="+mn-ea"/>
              </a:rPr>
              <a:t>compile</a:t>
            </a:r>
            <a:r>
              <a:rPr lang="zh-CN" altLang="en-US">
                <a:latin typeface="+mn-ea"/>
              </a:rPr>
              <a:t>(parseContext.treeRoot)函数</a:t>
            </a:r>
            <a:endParaRPr lang="zh-CN" altLang="en-US">
              <a:latin typeface="+mn-ea"/>
            </a:endParaRPr>
          </a:p>
          <a:p>
            <a:pPr lvl="2" algn="l">
              <a:buSzTx/>
            </a:pPr>
            <a:r>
              <a:rPr lang="en-US" altLang="zh-CN" sz="2000" b="1">
                <a:solidFill>
                  <a:schemeClr val="accent1"/>
                </a:solidFill>
                <a:latin typeface="+mn-ea"/>
                <a:sym typeface="+mn-ea"/>
              </a:rPr>
              <a:t>ShLink</a:t>
            </a:r>
            <a:r>
              <a:rPr lang="en-US" altLang="zh-CN" sz="2000">
                <a:latin typeface="+mn-ea"/>
                <a:sym typeface="+mn-ea"/>
              </a:rPr>
              <a:t>(): 链接</a:t>
            </a:r>
            <a:endParaRPr lang="en-US" altLang="zh-CN" sz="2000">
              <a:latin typeface="+mn-ea"/>
            </a:endParaRPr>
          </a:p>
          <a:p>
            <a:pPr lvl="3" algn="l">
              <a:buSzTx/>
            </a:pPr>
            <a:endParaRPr lang="zh-CN" altLang="en-US">
              <a:latin typeface="+mn-ea"/>
            </a:endParaRPr>
          </a:p>
          <a:p>
            <a:pPr lvl="2" algn="l">
              <a:buSzTx/>
            </a:pPr>
            <a:endParaRPr lang="zh-CN" altLang="en-US">
              <a:latin typeface="+mn-ea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glslang</a:t>
            </a:r>
            <a:r>
              <a:rPr lang="en-US" altLang="zh-CN" dirty="0"/>
              <a:t> 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接口</a:t>
            </a:r>
            <a:endParaRPr lang="zh-CN" alt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13245" y="1038224"/>
            <a:ext cx="11338560" cy="5280659"/>
          </a:xfrm>
        </p:spPr>
        <p:txBody>
          <a:bodyPr/>
          <a:lstStyle/>
          <a:p>
            <a:r>
              <a:rPr lang="en-US" altLang="zh-CN" sz="2800" b="1">
                <a:latin typeface="+mn-ea"/>
                <a:sym typeface="+mn-ea"/>
              </a:rPr>
              <a:t>context</a:t>
            </a:r>
            <a:r>
              <a:rPr lang="zh-CN" altLang="en-US" sz="2800" b="1">
                <a:latin typeface="+mn-ea"/>
              </a:rPr>
              <a:t>：</a:t>
            </a:r>
            <a:endParaRPr lang="zh-CN" altLang="en-US" sz="2800" b="1">
              <a:latin typeface="+mn-ea"/>
            </a:endParaRPr>
          </a:p>
          <a:p>
            <a:pPr lvl="1"/>
            <a:r>
              <a:rPr lang="zh-CN" altLang="en-US" sz="2400" b="1">
                <a:latin typeface="+mn-ea"/>
              </a:rPr>
              <a:t>数据结构</a:t>
            </a:r>
            <a:endParaRPr lang="zh-CN" altLang="en-US" sz="2400" b="1">
              <a:latin typeface="+mn-ea"/>
            </a:endParaRPr>
          </a:p>
          <a:p>
            <a:pPr lvl="2" algn="l">
              <a:buSzTx/>
            </a:pPr>
            <a:r>
              <a:rPr lang="en-US" altLang="zh-CN" sz="2000">
                <a:latin typeface="+mn-ea"/>
              </a:rPr>
              <a:t>shader compile</a:t>
            </a:r>
            <a:r>
              <a:rPr lang="zh-CN" altLang="en-US" sz="2000">
                <a:latin typeface="+mn-ea"/>
              </a:rPr>
              <a:t>的全部内容包含在</a:t>
            </a:r>
            <a:r>
              <a:rPr lang="zh-CN" altLang="en-US" sz="2000" b="1">
                <a:solidFill>
                  <a:srgbClr val="00B0F0"/>
                </a:solidFill>
                <a:latin typeface="+mn-ea"/>
              </a:rPr>
              <a:t>TParseContext</a:t>
            </a:r>
            <a:r>
              <a:rPr lang="zh-CN" altLang="en-US" sz="2000">
                <a:latin typeface="+mn-ea"/>
              </a:rPr>
              <a:t>结构体中，定义在\glslang\MachineIndependent\ParseHelper.h文件中。包含如下成员：</a:t>
            </a:r>
            <a:endParaRPr lang="zh-CN" altLang="en-US" sz="2000">
              <a:latin typeface="+mn-ea"/>
            </a:endParaRPr>
          </a:p>
          <a:p>
            <a:pPr lvl="3" algn="l">
              <a:buSzTx/>
            </a:pPr>
            <a:r>
              <a:rPr lang="zh-CN" altLang="en-US">
                <a:latin typeface="+mn-ea"/>
              </a:rPr>
              <a:t>TIntermNode* </a:t>
            </a:r>
            <a:r>
              <a:rPr lang="zh-CN" altLang="en-US" b="1">
                <a:solidFill>
                  <a:srgbClr val="00B050"/>
                </a:solidFill>
                <a:latin typeface="+mn-ea"/>
              </a:rPr>
              <a:t>treeRoot</a:t>
            </a:r>
            <a:r>
              <a:rPr lang="zh-CN" altLang="en-US">
                <a:latin typeface="+mn-ea"/>
              </a:rPr>
              <a:t>：最终生成的语法树的根节点</a:t>
            </a:r>
            <a:endParaRPr lang="zh-CN" altLang="en-US">
              <a:latin typeface="+mn-ea"/>
            </a:endParaRPr>
          </a:p>
          <a:p>
            <a:pPr lvl="3" algn="l">
              <a:buSzTx/>
            </a:pPr>
            <a:r>
              <a:rPr lang="zh-CN" altLang="en-US">
                <a:latin typeface="+mn-ea"/>
              </a:rPr>
              <a:t>TSymbolTable&amp; </a:t>
            </a:r>
            <a:r>
              <a:rPr lang="zh-CN" altLang="en-US" b="1">
                <a:solidFill>
                  <a:srgbClr val="00B050"/>
                </a:solidFill>
                <a:latin typeface="+mn-ea"/>
              </a:rPr>
              <a:t>symbolTable</a:t>
            </a:r>
            <a:r>
              <a:rPr lang="zh-CN" altLang="en-US">
                <a:latin typeface="+mn-ea"/>
              </a:rPr>
              <a:t>：符号表，该符号表在每次编译</a:t>
            </a:r>
            <a:r>
              <a:rPr lang="en-US" altLang="zh-CN">
                <a:latin typeface="+mn-ea"/>
              </a:rPr>
              <a:t>shader</a:t>
            </a:r>
            <a:r>
              <a:rPr lang="zh-CN" altLang="en-US">
                <a:latin typeface="+mn-ea"/>
              </a:rPr>
              <a:t>的时候，保存当前</a:t>
            </a:r>
            <a:r>
              <a:rPr lang="en-US" altLang="zh-CN">
                <a:latin typeface="+mn-ea"/>
              </a:rPr>
              <a:t>shader</a:t>
            </a:r>
            <a:r>
              <a:rPr lang="zh-CN" altLang="en-US">
                <a:latin typeface="+mn-ea"/>
              </a:rPr>
              <a:t>的符号表，包括</a:t>
            </a:r>
            <a:r>
              <a:rPr lang="en-US" altLang="zh-CN">
                <a:latin typeface="+mn-ea"/>
              </a:rPr>
              <a:t>builtIn,resource,</a:t>
            </a:r>
            <a:r>
              <a:rPr lang="zh-CN" altLang="en-US">
                <a:latin typeface="+mn-ea"/>
              </a:rPr>
              <a:t>和用户程序中出现的</a:t>
            </a:r>
            <a:r>
              <a:rPr lang="zh-CN" altLang="en-US">
                <a:latin typeface="+mn-ea"/>
              </a:rPr>
              <a:t>符号</a:t>
            </a:r>
            <a:endParaRPr lang="zh-CN" altLang="en-US">
              <a:latin typeface="+mn-ea"/>
            </a:endParaRPr>
          </a:p>
          <a:p>
            <a:pPr lvl="3" algn="l">
              <a:buSzTx/>
            </a:pPr>
            <a:r>
              <a:rPr lang="zh-CN" altLang="en-US">
                <a:latin typeface="+mn-ea"/>
              </a:rPr>
              <a:t>TIntermediate&amp; </a:t>
            </a:r>
            <a:r>
              <a:rPr lang="zh-CN" altLang="en-US" b="1">
                <a:solidFill>
                  <a:srgbClr val="00B050"/>
                </a:solidFill>
                <a:latin typeface="+mn-ea"/>
              </a:rPr>
              <a:t>intermediate</a:t>
            </a:r>
            <a:r>
              <a:rPr lang="zh-CN" altLang="en-US">
                <a:latin typeface="+mn-ea"/>
              </a:rPr>
              <a:t>：用于生成语法树的工具函数</a:t>
            </a:r>
            <a:endParaRPr lang="zh-CN" altLang="en-US">
              <a:latin typeface="+mn-ea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glslang</a:t>
            </a:r>
            <a:r>
              <a:rPr lang="en-US" altLang="zh-CN" dirty="0"/>
              <a:t> 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altLang="zh-CN" dirty="0"/>
              <a:t>context</a:t>
            </a:r>
            <a:endParaRPr altLang="zh-CN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13245" y="1038224"/>
            <a:ext cx="11338560" cy="5280659"/>
          </a:xfrm>
        </p:spPr>
        <p:txBody>
          <a:bodyPr/>
          <a:lstStyle/>
          <a:p>
            <a:r>
              <a:rPr lang="zh-CN" altLang="en-US" sz="2800" b="1">
                <a:latin typeface="+mn-ea"/>
              </a:rPr>
              <a:t>节点基本</a:t>
            </a:r>
            <a:r>
              <a:rPr lang="zh-CN" altLang="en-US" sz="2800" b="1">
                <a:latin typeface="+mn-ea"/>
              </a:rPr>
              <a:t>类型：</a:t>
            </a:r>
            <a:endParaRPr lang="zh-CN" altLang="en-US" sz="2800" b="1">
              <a:latin typeface="+mn-ea"/>
            </a:endParaRPr>
          </a:p>
          <a:p>
            <a:pPr lvl="1"/>
            <a:r>
              <a:rPr lang="zh-CN" altLang="en-US" sz="2400">
                <a:latin typeface="+mn-ea"/>
              </a:rPr>
              <a:t>定义代码中任何包含类型的语法符号</a:t>
            </a:r>
            <a:endParaRPr lang="en-US" altLang="zh-CN" sz="2400" dirty="0">
              <a:latin typeface="+mn-ea"/>
            </a:endParaRPr>
          </a:p>
          <a:p>
            <a:pPr lvl="1"/>
            <a:r>
              <a:rPr lang="zh-CN" altLang="en-US" sz="2400" dirty="0">
                <a:latin typeface="+mn-ea"/>
              </a:rPr>
              <a:t>在文件</a:t>
            </a:r>
            <a:r>
              <a:rPr lang="en-US" altLang="zh-CN" sz="2400" dirty="0">
                <a:latin typeface="+mn-ea"/>
              </a:rPr>
              <a:t>/glslang/Include/Types.h</a:t>
            </a:r>
            <a:r>
              <a:rPr lang="zh-CN" altLang="en-US" sz="2400" dirty="0">
                <a:latin typeface="+mn-ea"/>
              </a:rPr>
              <a:t>中的</a:t>
            </a:r>
            <a:r>
              <a:rPr lang="en-US" altLang="zh-CN" sz="2400" b="1" dirty="0">
                <a:solidFill>
                  <a:srgbClr val="00B0F0"/>
                </a:solidFill>
                <a:latin typeface="+mn-ea"/>
              </a:rPr>
              <a:t>TType</a:t>
            </a:r>
            <a:r>
              <a:rPr lang="zh-CN" altLang="en-US" sz="2400" dirty="0">
                <a:latin typeface="+mn-ea"/>
              </a:rPr>
              <a:t>类</a:t>
            </a:r>
            <a:r>
              <a:rPr lang="zh-CN" altLang="en-US" sz="2400" dirty="0">
                <a:latin typeface="+mn-ea"/>
              </a:rPr>
              <a:t>定义</a:t>
            </a:r>
            <a:endParaRPr lang="zh-CN" altLang="en-US" sz="2400" dirty="0">
              <a:latin typeface="+mn-ea"/>
            </a:endParaRPr>
          </a:p>
          <a:p>
            <a:pPr lvl="1"/>
            <a:r>
              <a:rPr lang="zh-CN" altLang="en-US" sz="2400" dirty="0">
                <a:latin typeface="+mn-ea"/>
              </a:rPr>
              <a:t>其中：</a:t>
            </a:r>
            <a:endParaRPr lang="zh-CN" altLang="en-US" sz="2400" dirty="0">
              <a:latin typeface="+mn-ea"/>
            </a:endParaRPr>
          </a:p>
          <a:p>
            <a:pPr lvl="2"/>
            <a:r>
              <a:rPr lang="en-US" altLang="zh-CN" sz="2000" b="1" dirty="0">
                <a:solidFill>
                  <a:srgbClr val="00B0F0"/>
                </a:solidFill>
                <a:latin typeface="+mn-ea"/>
              </a:rPr>
              <a:t>TBasicType </a:t>
            </a:r>
            <a:r>
              <a:rPr lang="en-US" altLang="zh-CN" sz="2000" dirty="0">
                <a:latin typeface="+mn-ea"/>
              </a:rPr>
              <a:t>type</a:t>
            </a:r>
            <a:r>
              <a:rPr lang="zh-CN" altLang="en-US" sz="2000" dirty="0">
                <a:latin typeface="+mn-ea"/>
              </a:rPr>
              <a:t>；定义了基本类型的枚举值，包括整型浮点，采样等</a:t>
            </a:r>
            <a:endParaRPr lang="zh-CN" altLang="en-US" sz="2000" dirty="0">
              <a:latin typeface="+mn-ea"/>
            </a:endParaRPr>
          </a:p>
          <a:p>
            <a:pPr lvl="2"/>
            <a:r>
              <a:rPr lang="en-US" altLang="zh-CN" sz="2000" b="1" dirty="0">
                <a:solidFill>
                  <a:srgbClr val="00B0F0"/>
                </a:solidFill>
                <a:latin typeface="+mn-ea"/>
              </a:rPr>
              <a:t>TQualifiler </a:t>
            </a:r>
            <a:r>
              <a:rPr lang="en-US" altLang="zh-CN" sz="2000" dirty="0">
                <a:latin typeface="+mn-ea"/>
              </a:rPr>
              <a:t>qualifier</a:t>
            </a:r>
            <a:r>
              <a:rPr lang="zh-CN" altLang="en-US" sz="2000" dirty="0">
                <a:latin typeface="+mn-ea"/>
              </a:rPr>
              <a:t>；定义了限定符的枚举值，包括</a:t>
            </a:r>
            <a:r>
              <a:rPr lang="en-US" altLang="zh-CN" sz="2000" dirty="0">
                <a:latin typeface="+mn-ea"/>
              </a:rPr>
              <a:t>global in out</a:t>
            </a:r>
            <a:r>
              <a:rPr lang="zh-CN" altLang="en-US" sz="2000" dirty="0">
                <a:latin typeface="+mn-ea"/>
              </a:rPr>
              <a:t>等</a:t>
            </a:r>
            <a:endParaRPr lang="zh-CN" altLang="en-US" sz="2000" dirty="0">
              <a:latin typeface="+mn-ea"/>
            </a:endParaRPr>
          </a:p>
          <a:p>
            <a:pPr lvl="2"/>
            <a:r>
              <a:rPr lang="zh-CN" altLang="en-US" sz="2000" dirty="0">
                <a:latin typeface="+mn-ea"/>
              </a:rPr>
              <a:t>如果该类型为结构体类型，定义在</a:t>
            </a:r>
            <a:r>
              <a:rPr lang="en-US" altLang="zh-CN" sz="2000" b="1" dirty="0">
                <a:solidFill>
                  <a:srgbClr val="00B0F0"/>
                </a:solidFill>
                <a:latin typeface="+mn-ea"/>
              </a:rPr>
              <a:t>TTypeList*</a:t>
            </a:r>
            <a:r>
              <a:rPr lang="en-US" altLang="zh-CN" sz="2000" dirty="0">
                <a:latin typeface="+mn-ea"/>
              </a:rPr>
              <a:t> structure;</a:t>
            </a:r>
            <a:r>
              <a:rPr lang="zh-CN" altLang="en-US" sz="2000" dirty="0">
                <a:latin typeface="+mn-ea"/>
              </a:rPr>
              <a:t>中</a:t>
            </a:r>
            <a:endParaRPr lang="zh-CN" altLang="en-US" sz="2000" dirty="0">
              <a:latin typeface="+mn-ea"/>
            </a:endParaRPr>
          </a:p>
          <a:p>
            <a:pPr lvl="3"/>
            <a:r>
              <a:rPr lang="zh-CN" altLang="en-US" dirty="0">
                <a:latin typeface="+mn-ea"/>
              </a:rPr>
              <a:t>该类型是一个</a:t>
            </a:r>
            <a:r>
              <a:rPr lang="en-US" altLang="zh-CN" dirty="0">
                <a:latin typeface="+mn-ea"/>
              </a:rPr>
              <a:t>TTypeLine</a:t>
            </a:r>
            <a:r>
              <a:rPr lang="zh-CN" altLang="en-US" dirty="0">
                <a:latin typeface="+mn-ea"/>
              </a:rPr>
              <a:t>的向量。</a:t>
            </a:r>
            <a:r>
              <a:rPr lang="en-US" altLang="zh-CN" dirty="0">
                <a:latin typeface="+mn-ea"/>
              </a:rPr>
              <a:t>TTypeLine</a:t>
            </a:r>
            <a:r>
              <a:rPr lang="zh-CN" altLang="en-US" dirty="0">
                <a:latin typeface="+mn-ea"/>
              </a:rPr>
              <a:t>是包含</a:t>
            </a:r>
            <a:r>
              <a:rPr lang="en-US" altLang="zh-CN" dirty="0">
                <a:latin typeface="+mn-ea"/>
              </a:rPr>
              <a:t>TType</a:t>
            </a:r>
            <a:r>
              <a:rPr lang="zh-CN" altLang="en-US" dirty="0">
                <a:latin typeface="+mn-ea"/>
              </a:rPr>
              <a:t>和</a:t>
            </a:r>
            <a:r>
              <a:rPr lang="en-US" altLang="zh-CN" dirty="0">
                <a:latin typeface="+mn-ea"/>
              </a:rPr>
              <a:t>line</a:t>
            </a:r>
            <a:r>
              <a:rPr lang="zh-CN" altLang="en-US" dirty="0">
                <a:latin typeface="+mn-ea"/>
              </a:rPr>
              <a:t>的结构体</a:t>
            </a:r>
            <a:endParaRPr lang="zh-CN" altLang="en-US" dirty="0">
              <a:latin typeface="+mn-ea"/>
            </a:endParaRPr>
          </a:p>
          <a:p>
            <a:pPr lvl="2"/>
            <a:endParaRPr lang="en-US" altLang="zh-CN" dirty="0">
              <a:latin typeface="+mn-ea"/>
            </a:endParaRPr>
          </a:p>
          <a:p>
            <a:pPr lvl="1"/>
            <a:endParaRPr lang="zh-CN" altLang="en-US" dirty="0">
              <a:latin typeface="+mn-ea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glslang</a:t>
            </a:r>
            <a:r>
              <a:rPr lang="en-US" altLang="zh-CN" dirty="0"/>
              <a:t> 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语法树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6625" y="4116705"/>
            <a:ext cx="6067425" cy="3962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05435" y="1038225"/>
            <a:ext cx="11346180" cy="5280660"/>
          </a:xfrm>
        </p:spPr>
        <p:txBody>
          <a:bodyPr/>
          <a:lstStyle/>
          <a:p>
            <a:r>
              <a:rPr lang="zh-CN" altLang="en-US" sz="2800" b="1">
                <a:latin typeface="+mn-ea"/>
              </a:rPr>
              <a:t>节点</a:t>
            </a:r>
            <a:r>
              <a:rPr lang="zh-CN" altLang="en-US" sz="2800" b="1">
                <a:latin typeface="+mn-ea"/>
              </a:rPr>
              <a:t>类型</a:t>
            </a:r>
            <a:r>
              <a:rPr lang="en-US" altLang="zh-CN" sz="2800" b="1">
                <a:latin typeface="+mn-ea"/>
              </a:rPr>
              <a:t>1</a:t>
            </a:r>
            <a:r>
              <a:rPr lang="zh-CN" altLang="en-US" sz="2800" b="1">
                <a:latin typeface="+mn-ea"/>
              </a:rPr>
              <a:t>：</a:t>
            </a:r>
            <a:endParaRPr lang="zh-CN" altLang="en-US" sz="2800" b="1">
              <a:latin typeface="+mn-ea"/>
            </a:endParaRPr>
          </a:p>
          <a:p>
            <a:pPr lvl="1"/>
            <a:r>
              <a:rPr lang="zh-CN" altLang="en-US" sz="2400">
                <a:latin typeface="+mn-ea"/>
              </a:rPr>
              <a:t>语法树相关结构定义在\glslang\Include\intermediate.h中</a:t>
            </a:r>
            <a:endParaRPr lang="zh-CN" altLang="en-US" sz="2400">
              <a:latin typeface="+mn-ea"/>
            </a:endParaRPr>
          </a:p>
          <a:p>
            <a:pPr lvl="1"/>
            <a:r>
              <a:rPr lang="zh-CN" altLang="en-US" sz="2400">
                <a:latin typeface="+mn-ea"/>
              </a:rPr>
              <a:t>节点的基本类型为</a:t>
            </a:r>
            <a:r>
              <a:rPr lang="zh-CN" altLang="en-US" sz="2400" b="1">
                <a:solidFill>
                  <a:srgbClr val="00B0F0"/>
                </a:solidFill>
                <a:latin typeface="+mn-ea"/>
              </a:rPr>
              <a:t>TIntermNode</a:t>
            </a:r>
            <a:r>
              <a:rPr lang="en-US" altLang="zh-CN" sz="2400" dirty="0">
                <a:latin typeface="+mn-ea"/>
              </a:rPr>
              <a:t>，</a:t>
            </a:r>
            <a:r>
              <a:rPr lang="zh-CN" altLang="en-US" sz="2400" dirty="0">
                <a:latin typeface="+mn-ea"/>
              </a:rPr>
              <a:t>只包括一个成员：行号 TSourceLoc </a:t>
            </a:r>
            <a:r>
              <a:rPr lang="zh-CN" altLang="en-US" sz="2400" b="1" dirty="0">
                <a:solidFill>
                  <a:srgbClr val="00B050"/>
                </a:solidFill>
                <a:latin typeface="+mn-ea"/>
              </a:rPr>
              <a:t>line</a:t>
            </a:r>
            <a:r>
              <a:rPr lang="zh-CN" altLang="en-US" sz="2400" dirty="0">
                <a:latin typeface="+mn-ea"/>
              </a:rPr>
              <a:t>；</a:t>
            </a:r>
            <a:endParaRPr lang="zh-CN" altLang="en-US" sz="2400" dirty="0">
              <a:latin typeface="+mn-ea"/>
            </a:endParaRPr>
          </a:p>
          <a:p>
            <a:pPr lvl="1"/>
            <a:r>
              <a:rPr lang="zh-CN" altLang="en-US" sz="2400" dirty="0">
                <a:latin typeface="+mn-ea"/>
              </a:rPr>
              <a:t>其他节点类型均派生自该类。包括：</a:t>
            </a:r>
            <a:endParaRPr lang="zh-CN" altLang="en-US" sz="2400" dirty="0">
              <a:latin typeface="+mn-ea"/>
            </a:endParaRPr>
          </a:p>
          <a:p>
            <a:pPr lvl="2"/>
            <a:r>
              <a:rPr lang="zh-CN" altLang="en-US" sz="2000" b="1">
                <a:solidFill>
                  <a:srgbClr val="00B0F0"/>
                </a:solidFill>
                <a:latin typeface="+mn-ea"/>
              </a:rPr>
              <a:t>TIntermTyped</a:t>
            </a:r>
            <a:r>
              <a:rPr lang="zh-CN" altLang="en-US" sz="2000">
                <a:latin typeface="+mn-ea"/>
              </a:rPr>
              <a:t>：包含类型的节点。包含一个成员：TType </a:t>
            </a:r>
            <a:r>
              <a:rPr lang="zh-CN" altLang="en-US" sz="2000" b="1">
                <a:solidFill>
                  <a:srgbClr val="00B050"/>
                </a:solidFill>
                <a:latin typeface="+mn-ea"/>
              </a:rPr>
              <a:t>type</a:t>
            </a:r>
            <a:r>
              <a:rPr lang="zh-CN" altLang="en-US" sz="2000">
                <a:latin typeface="+mn-ea"/>
              </a:rPr>
              <a:t>;</a:t>
            </a:r>
            <a:endParaRPr lang="zh-CN" altLang="en-US" sz="2000">
              <a:latin typeface="+mn-ea"/>
            </a:endParaRPr>
          </a:p>
          <a:p>
            <a:pPr lvl="3"/>
            <a:r>
              <a:rPr lang="zh-CN" altLang="en-US" b="1">
                <a:solidFill>
                  <a:srgbClr val="00B0F0"/>
                </a:solidFill>
                <a:latin typeface="+mn-ea"/>
              </a:rPr>
              <a:t>TIntermSymbol</a:t>
            </a:r>
            <a:r>
              <a:rPr lang="zh-CN" altLang="en-US">
                <a:latin typeface="+mn-ea"/>
              </a:rPr>
              <a:t>：symbols 节点。包含两个成员：</a:t>
            </a:r>
            <a:r>
              <a:rPr lang="en-US" altLang="zh-CN" b="1">
                <a:solidFill>
                  <a:srgbClr val="00B050"/>
                </a:solidFill>
                <a:latin typeface="+mn-ea"/>
              </a:rPr>
              <a:t>id </a:t>
            </a:r>
            <a:r>
              <a:rPr lang="zh-CN" altLang="en-US">
                <a:latin typeface="+mn-ea"/>
              </a:rPr>
              <a:t>和符号名 </a:t>
            </a:r>
            <a:r>
              <a:rPr lang="zh-CN" altLang="en-US" b="1">
                <a:solidFill>
                  <a:srgbClr val="00B050"/>
                </a:solidFill>
                <a:latin typeface="+mn-ea"/>
              </a:rPr>
              <a:t>symbol</a:t>
            </a:r>
            <a:endParaRPr lang="zh-CN" altLang="en-US">
              <a:latin typeface="+mn-ea"/>
            </a:endParaRPr>
          </a:p>
          <a:p>
            <a:pPr lvl="3"/>
            <a:r>
              <a:rPr lang="zh-CN" altLang="en-US" b="1">
                <a:solidFill>
                  <a:srgbClr val="00B0F0"/>
                </a:solidFill>
                <a:latin typeface="+mn-ea"/>
              </a:rPr>
              <a:t>TIntermConstantUnion</a:t>
            </a:r>
            <a:r>
              <a:rPr lang="zh-CN" altLang="en-US">
                <a:latin typeface="+mn-ea"/>
              </a:rPr>
              <a:t>：</a:t>
            </a:r>
            <a:r>
              <a:rPr lang="zh-CN" altLang="en-US">
                <a:latin typeface="+mn-ea"/>
                <a:sym typeface="+mn-ea"/>
              </a:rPr>
              <a:t>constants 节点。</a:t>
            </a:r>
            <a:endParaRPr lang="zh-CN" altLang="en-US">
              <a:latin typeface="+mn-ea"/>
              <a:sym typeface="+mn-ea"/>
            </a:endParaRPr>
          </a:p>
          <a:p>
            <a:pPr lvl="3"/>
            <a:r>
              <a:rPr lang="zh-CN" altLang="en-US" b="1">
                <a:solidFill>
                  <a:srgbClr val="00B0F0"/>
                </a:solidFill>
                <a:latin typeface="+mn-ea"/>
              </a:rPr>
              <a:t>TIntermOperator</a:t>
            </a:r>
            <a:r>
              <a:rPr lang="zh-CN" altLang="en-US">
                <a:latin typeface="+mn-ea"/>
                <a:sym typeface="+mn-ea"/>
              </a:rPr>
              <a:t>：操作符的节点。</a:t>
            </a:r>
            <a:r>
              <a:rPr lang="zh-CN" altLang="en-US">
                <a:latin typeface="+mn-ea"/>
                <a:sym typeface="+mn-ea"/>
              </a:rPr>
              <a:t>包含一个成员：操作符类型的枚举值 </a:t>
            </a:r>
            <a:r>
              <a:rPr lang="zh-CN" altLang="en-US" b="1">
                <a:solidFill>
                  <a:srgbClr val="00B0F0"/>
                </a:solidFill>
                <a:latin typeface="+mn-ea"/>
                <a:sym typeface="+mn-ea"/>
              </a:rPr>
              <a:t>TOperator </a:t>
            </a:r>
            <a:r>
              <a:rPr lang="zh-CN" altLang="en-US" b="1">
                <a:solidFill>
                  <a:srgbClr val="00B050"/>
                </a:solidFill>
                <a:latin typeface="+mn-ea"/>
                <a:sym typeface="+mn-ea"/>
              </a:rPr>
              <a:t>op</a:t>
            </a:r>
            <a:r>
              <a:rPr lang="zh-CN" altLang="en-US">
                <a:latin typeface="+mn-ea"/>
                <a:sym typeface="+mn-ea"/>
              </a:rPr>
              <a:t>;</a:t>
            </a:r>
            <a:endParaRPr lang="zh-CN" altLang="en-US">
              <a:latin typeface="+mn-ea"/>
              <a:sym typeface="+mn-ea"/>
            </a:endParaRPr>
          </a:p>
          <a:p>
            <a:pPr lvl="4"/>
            <a:r>
              <a:rPr lang="zh-CN" altLang="en-US" sz="1800" b="1">
                <a:solidFill>
                  <a:srgbClr val="00B0F0"/>
                </a:solidFill>
                <a:latin typeface="+mn-ea"/>
                <a:sym typeface="+mn-ea"/>
              </a:rPr>
              <a:t>TIntermBinary</a:t>
            </a:r>
            <a:r>
              <a:rPr lang="zh-CN" altLang="en-US" sz="1800">
                <a:latin typeface="+mn-ea"/>
                <a:sym typeface="+mn-ea"/>
              </a:rPr>
              <a:t>：二元操作符节点。包含两个成员：左右操作数 TIntermTyped* </a:t>
            </a:r>
            <a:r>
              <a:rPr lang="zh-CN" altLang="en-US" sz="1800" b="1">
                <a:solidFill>
                  <a:srgbClr val="00B050"/>
                </a:solidFill>
                <a:latin typeface="+mn-ea"/>
                <a:sym typeface="+mn-ea"/>
              </a:rPr>
              <a:t>left</a:t>
            </a:r>
            <a:r>
              <a:rPr lang="en-US" altLang="zh-CN" sz="1800">
                <a:latin typeface="+mn-ea"/>
                <a:sym typeface="+mn-ea"/>
              </a:rPr>
              <a:t>/</a:t>
            </a:r>
            <a:r>
              <a:rPr lang="en-US" altLang="zh-CN" sz="1800" b="1">
                <a:solidFill>
                  <a:srgbClr val="00B050"/>
                </a:solidFill>
                <a:latin typeface="+mn-ea"/>
                <a:sym typeface="+mn-ea"/>
              </a:rPr>
              <a:t>right</a:t>
            </a:r>
            <a:r>
              <a:rPr lang="zh-CN" altLang="en-US" sz="1800">
                <a:latin typeface="+mn-ea"/>
                <a:sym typeface="+mn-ea"/>
              </a:rPr>
              <a:t>;</a:t>
            </a:r>
            <a:endParaRPr lang="zh-CN" altLang="en-US" sz="1800">
              <a:latin typeface="+mn-ea"/>
              <a:sym typeface="+mn-ea"/>
            </a:endParaRPr>
          </a:p>
          <a:p>
            <a:pPr lvl="4"/>
            <a:r>
              <a:rPr lang="zh-CN" altLang="en-US" sz="1800" b="1">
                <a:solidFill>
                  <a:srgbClr val="00B0F0"/>
                </a:solidFill>
                <a:latin typeface="+mn-ea"/>
                <a:sym typeface="+mn-ea"/>
              </a:rPr>
              <a:t>TIntermUnary</a:t>
            </a:r>
            <a:r>
              <a:rPr lang="zh-CN" altLang="en-US" sz="1800">
                <a:latin typeface="+mn-ea"/>
                <a:sym typeface="+mn-ea"/>
              </a:rPr>
              <a:t>：一元操作符节点。包含一个成员：操作数 TIntermTyped* </a:t>
            </a:r>
            <a:r>
              <a:rPr lang="zh-CN" altLang="en-US" sz="1800" b="1">
                <a:solidFill>
                  <a:srgbClr val="00B050"/>
                </a:solidFill>
                <a:latin typeface="+mn-ea"/>
                <a:sym typeface="+mn-ea"/>
              </a:rPr>
              <a:t>operand</a:t>
            </a:r>
            <a:r>
              <a:rPr lang="zh-CN" altLang="en-US" sz="1800">
                <a:latin typeface="+mn-ea"/>
                <a:sym typeface="+mn-ea"/>
              </a:rPr>
              <a:t>;</a:t>
            </a:r>
            <a:endParaRPr lang="zh-CN" altLang="en-US" sz="1800">
              <a:latin typeface="+mn-ea"/>
              <a:sym typeface="+mn-ea"/>
            </a:endParaRPr>
          </a:p>
          <a:p>
            <a:pPr lvl="4"/>
            <a:r>
              <a:rPr lang="zh-CN" altLang="en-US" sz="1800" b="1">
                <a:solidFill>
                  <a:srgbClr val="00B0F0"/>
                </a:solidFill>
                <a:latin typeface="+mn-ea"/>
                <a:sym typeface="+mn-ea"/>
              </a:rPr>
              <a:t>TIntermAggregate</a:t>
            </a:r>
            <a:r>
              <a:rPr lang="zh-CN" altLang="en-US" sz="1800">
                <a:latin typeface="+mn-ea"/>
                <a:sym typeface="+mn-ea"/>
              </a:rPr>
              <a:t>：包含多个操作数的节点。见后</a:t>
            </a:r>
            <a:endParaRPr lang="zh-CN" altLang="en-US" sz="1800">
              <a:latin typeface="+mn-ea"/>
              <a:sym typeface="+mn-ea"/>
            </a:endParaRPr>
          </a:p>
          <a:p>
            <a:pPr lvl="3"/>
            <a:r>
              <a:rPr lang="zh-CN" altLang="en-US" b="1">
                <a:solidFill>
                  <a:srgbClr val="00B0F0"/>
                </a:solidFill>
                <a:latin typeface="+mn-ea"/>
              </a:rPr>
              <a:t>TIntermSelection</a:t>
            </a:r>
            <a:r>
              <a:rPr lang="zh-CN" altLang="en-US">
                <a:latin typeface="+mn-ea"/>
                <a:sym typeface="+mn-ea"/>
              </a:rPr>
              <a:t>：</a:t>
            </a:r>
            <a:r>
              <a:rPr lang="en-US" altLang="zh-CN">
                <a:latin typeface="+mn-ea"/>
                <a:sym typeface="+mn-ea"/>
              </a:rPr>
              <a:t>if</a:t>
            </a:r>
            <a:r>
              <a:rPr lang="zh-CN" altLang="en-US">
                <a:latin typeface="+mn-ea"/>
                <a:sym typeface="+mn-ea"/>
              </a:rPr>
              <a:t>测试</a:t>
            </a:r>
            <a:r>
              <a:rPr lang="en-US" altLang="zh-CN">
                <a:latin typeface="+mn-ea"/>
                <a:sym typeface="+mn-ea"/>
              </a:rPr>
              <a:t>,</a:t>
            </a:r>
            <a:r>
              <a:rPr lang="zh-CN" altLang="en-US">
                <a:latin typeface="+mn-ea"/>
                <a:sym typeface="+mn-ea"/>
              </a:rPr>
              <a:t>目前不支持</a:t>
            </a:r>
            <a:r>
              <a:rPr lang="en-US" altLang="zh-CN">
                <a:latin typeface="+mn-ea"/>
                <a:sym typeface="+mn-ea"/>
              </a:rPr>
              <a:t>switch</a:t>
            </a:r>
            <a:r>
              <a:rPr lang="zh-CN" altLang="en-US">
                <a:latin typeface="+mn-ea"/>
                <a:sym typeface="+mn-ea"/>
              </a:rPr>
              <a:t>。见后</a:t>
            </a:r>
            <a:r>
              <a:rPr lang="en-US" altLang="zh-CN" dirty="0">
                <a:latin typeface="+mn-ea"/>
              </a:rPr>
              <a:t>;</a:t>
            </a:r>
            <a:endParaRPr lang="en-US" altLang="zh-CN" dirty="0">
              <a:latin typeface="+mn-ea"/>
            </a:endParaRPr>
          </a:p>
          <a:p>
            <a:pPr lvl="2"/>
            <a:r>
              <a:rPr lang="zh-CN" altLang="en-US" sz="2000" b="1">
                <a:solidFill>
                  <a:srgbClr val="00B0F0"/>
                </a:solidFill>
                <a:latin typeface="+mn-ea"/>
                <a:sym typeface="+mn-ea"/>
              </a:rPr>
              <a:t>TIntermLoop</a:t>
            </a:r>
            <a:r>
              <a:rPr lang="zh-CN" altLang="en-US" sz="2000">
                <a:latin typeface="+mn-ea"/>
                <a:sym typeface="+mn-ea"/>
              </a:rPr>
              <a:t>：</a:t>
            </a:r>
            <a:r>
              <a:rPr lang="en-US" altLang="zh-CN" sz="2000">
                <a:latin typeface="+mn-ea"/>
                <a:sym typeface="+mn-ea"/>
              </a:rPr>
              <a:t>while</a:t>
            </a:r>
            <a:r>
              <a:rPr lang="zh-CN" altLang="en-US" sz="2000">
                <a:latin typeface="+mn-ea"/>
                <a:sym typeface="+mn-ea"/>
              </a:rPr>
              <a:t>循环的节点。见后</a:t>
            </a:r>
            <a:endParaRPr lang="zh-CN" altLang="en-US" sz="2000">
              <a:latin typeface="+mn-ea"/>
            </a:endParaRPr>
          </a:p>
          <a:p>
            <a:pPr lvl="2"/>
            <a:r>
              <a:rPr lang="zh-CN" altLang="en-US" sz="2000" b="1">
                <a:solidFill>
                  <a:srgbClr val="00B0F0"/>
                </a:solidFill>
                <a:latin typeface="+mn-ea"/>
                <a:sym typeface="+mn-ea"/>
              </a:rPr>
              <a:t>TIntermBranch</a:t>
            </a:r>
            <a:r>
              <a:rPr lang="zh-CN" altLang="en-US" sz="2000">
                <a:latin typeface="+mn-ea"/>
                <a:sym typeface="+mn-ea"/>
              </a:rPr>
              <a:t>：break, continue, return的节点。见后</a:t>
            </a:r>
            <a:endParaRPr lang="zh-CN" altLang="en-US" sz="2000">
              <a:latin typeface="+mn-ea"/>
              <a:sym typeface="+mn-ea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glslang</a:t>
            </a:r>
            <a:r>
              <a:rPr lang="en-US" altLang="zh-CN" dirty="0"/>
              <a:t> 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语法树</a:t>
            </a:r>
            <a:endParaRPr lang="zh-CN" alt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13245" y="1038224"/>
            <a:ext cx="11338560" cy="5280659"/>
          </a:xfrm>
        </p:spPr>
        <p:txBody>
          <a:bodyPr/>
          <a:lstStyle/>
          <a:p>
            <a:r>
              <a:rPr lang="zh-CN" altLang="en-US" sz="2800" b="1">
                <a:latin typeface="+mn-ea"/>
                <a:sym typeface="+mn-ea"/>
              </a:rPr>
              <a:t>节点</a:t>
            </a:r>
            <a:r>
              <a:rPr lang="zh-CN" altLang="en-US" sz="2800" b="1">
                <a:latin typeface="+mn-ea"/>
              </a:rPr>
              <a:t>类型</a:t>
            </a:r>
            <a:r>
              <a:rPr lang="en-US" altLang="zh-CN" sz="2800" b="1">
                <a:latin typeface="+mn-ea"/>
              </a:rPr>
              <a:t>2</a:t>
            </a:r>
            <a:r>
              <a:rPr lang="zh-CN" altLang="en-US" sz="2800" b="1">
                <a:latin typeface="+mn-ea"/>
              </a:rPr>
              <a:t>：</a:t>
            </a:r>
            <a:endParaRPr lang="zh-CN" altLang="en-US" sz="2800" b="1">
              <a:latin typeface="+mn-ea"/>
            </a:endParaRPr>
          </a:p>
          <a:p>
            <a:pPr lvl="2"/>
            <a:r>
              <a:rPr lang="zh-CN" altLang="en-US" sz="1995" b="1">
                <a:solidFill>
                  <a:srgbClr val="00B0F0"/>
                </a:solidFill>
                <a:latin typeface="+mn-ea"/>
              </a:rPr>
              <a:t>TIntermSequence</a:t>
            </a:r>
            <a:r>
              <a:rPr lang="zh-CN" altLang="en-US" sz="1995">
                <a:latin typeface="+mn-ea"/>
                <a:sym typeface="+mn-ea"/>
              </a:rPr>
              <a:t>：</a:t>
            </a:r>
            <a:r>
              <a:rPr lang="zh-CN" altLang="en-US" sz="1995">
                <a:latin typeface="+mn-ea"/>
                <a:sym typeface="+mn-ea"/>
              </a:rPr>
              <a:t>包含多个操作数的节点。</a:t>
            </a:r>
            <a:r>
              <a:rPr lang="zh-CN" altLang="en-US" sz="1995">
                <a:latin typeface="+mn-ea"/>
                <a:sym typeface="+mn-ea"/>
              </a:rPr>
              <a:t>包含如下成员：</a:t>
            </a:r>
            <a:endParaRPr lang="zh-CN" altLang="en-US" sz="1995">
              <a:latin typeface="+mn-ea"/>
              <a:sym typeface="+mn-ea"/>
            </a:endParaRPr>
          </a:p>
          <a:p>
            <a:pPr lvl="3"/>
            <a:r>
              <a:rPr lang="zh-CN" altLang="en-US">
                <a:latin typeface="+mn-ea"/>
                <a:sym typeface="+mn-ea"/>
              </a:rPr>
              <a:t>TQualifierList </a:t>
            </a:r>
            <a:r>
              <a:rPr lang="zh-CN" altLang="en-US" b="1">
                <a:solidFill>
                  <a:srgbClr val="00B050"/>
                </a:solidFill>
                <a:latin typeface="+mn-ea"/>
                <a:sym typeface="+mn-ea"/>
              </a:rPr>
              <a:t>qualifier</a:t>
            </a:r>
            <a:r>
              <a:rPr lang="zh-CN" altLang="en-US">
                <a:latin typeface="+mn-ea"/>
                <a:sym typeface="+mn-ea"/>
              </a:rPr>
              <a:t>：所有</a:t>
            </a:r>
            <a:r>
              <a:rPr lang="zh-CN" altLang="en-US">
                <a:latin typeface="+mn-ea"/>
                <a:sym typeface="+mn-ea"/>
              </a:rPr>
              <a:t>操作数子节点，即</a:t>
            </a:r>
            <a:r>
              <a:rPr lang="zh-CN" altLang="en-US">
                <a:latin typeface="+mn-ea"/>
                <a:sym typeface="+mn-ea"/>
              </a:rPr>
              <a:t>TVector&lt;TIntermNode*&gt;</a:t>
            </a:r>
            <a:endParaRPr lang="zh-CN" altLang="en-US">
              <a:latin typeface="+mn-ea"/>
              <a:sym typeface="+mn-ea"/>
            </a:endParaRPr>
          </a:p>
          <a:p>
            <a:pPr lvl="3"/>
            <a:r>
              <a:rPr lang="zh-CN" altLang="en-US">
                <a:latin typeface="+mn-ea"/>
                <a:sym typeface="+mn-ea"/>
              </a:rPr>
              <a:t>TQualifierList </a:t>
            </a:r>
            <a:r>
              <a:rPr lang="zh-CN" altLang="en-US" b="1">
                <a:solidFill>
                  <a:srgbClr val="00B050"/>
                </a:solidFill>
                <a:latin typeface="+mn-ea"/>
                <a:sym typeface="+mn-ea"/>
              </a:rPr>
              <a:t>qualifier</a:t>
            </a:r>
            <a:r>
              <a:rPr lang="zh-CN" altLang="en-US">
                <a:latin typeface="+mn-ea"/>
                <a:sym typeface="+mn-ea"/>
              </a:rPr>
              <a:t>：所有限定符的集合，即TVector&lt;int&gt;</a:t>
            </a:r>
            <a:endParaRPr lang="zh-CN" altLang="en-US">
              <a:latin typeface="+mn-ea"/>
              <a:sym typeface="+mn-ea"/>
            </a:endParaRPr>
          </a:p>
          <a:p>
            <a:pPr lvl="3"/>
            <a:r>
              <a:rPr lang="zh-CN" altLang="en-US">
                <a:latin typeface="+mn-ea"/>
                <a:sym typeface="+mn-ea"/>
              </a:rPr>
              <a:t>TString </a:t>
            </a:r>
            <a:r>
              <a:rPr lang="zh-CN" altLang="en-US" b="1">
                <a:solidFill>
                  <a:srgbClr val="00B050"/>
                </a:solidFill>
                <a:latin typeface="+mn-ea"/>
                <a:sym typeface="+mn-ea"/>
              </a:rPr>
              <a:t>name</a:t>
            </a:r>
            <a:r>
              <a:rPr lang="zh-CN" altLang="en-US">
                <a:latin typeface="+mn-ea"/>
                <a:sym typeface="+mn-ea"/>
              </a:rPr>
              <a:t>：</a:t>
            </a:r>
            <a:endParaRPr lang="zh-CN" altLang="en-US">
              <a:latin typeface="+mn-ea"/>
              <a:sym typeface="+mn-ea"/>
            </a:endParaRPr>
          </a:p>
          <a:p>
            <a:pPr lvl="2"/>
            <a:r>
              <a:rPr lang="zh-CN" altLang="en-US" sz="2000" b="1">
                <a:solidFill>
                  <a:srgbClr val="00B0F0"/>
                </a:solidFill>
                <a:latin typeface="+mn-ea"/>
                <a:sym typeface="+mn-ea"/>
              </a:rPr>
              <a:t>TIntermLoop</a:t>
            </a:r>
            <a:r>
              <a:rPr lang="zh-CN" altLang="en-US" sz="2000">
                <a:latin typeface="+mn-ea"/>
                <a:sym typeface="+mn-ea"/>
              </a:rPr>
              <a:t>：</a:t>
            </a:r>
            <a:r>
              <a:rPr lang="en-US" altLang="zh-CN" sz="2000">
                <a:latin typeface="+mn-ea"/>
                <a:sym typeface="+mn-ea"/>
              </a:rPr>
              <a:t>while</a:t>
            </a:r>
            <a:r>
              <a:rPr lang="zh-CN" altLang="en-US" sz="2000">
                <a:latin typeface="+mn-ea"/>
                <a:sym typeface="+mn-ea"/>
              </a:rPr>
              <a:t>循环的节点。包含如下成员：</a:t>
            </a:r>
            <a:endParaRPr lang="zh-CN" altLang="en-US" sz="2000">
              <a:latin typeface="+mn-ea"/>
              <a:sym typeface="+mn-ea"/>
            </a:endParaRPr>
          </a:p>
          <a:p>
            <a:pPr lvl="3"/>
            <a:r>
              <a:rPr lang="zh-CN" altLang="en-US" sz="1800">
                <a:latin typeface="+mn-ea"/>
                <a:sym typeface="+mn-ea"/>
              </a:rPr>
              <a:t>TIntermNode* </a:t>
            </a:r>
            <a:r>
              <a:rPr lang="zh-CN" altLang="en-US" sz="1800" b="1">
                <a:solidFill>
                  <a:srgbClr val="00B050"/>
                </a:solidFill>
                <a:latin typeface="+mn-ea"/>
                <a:sym typeface="+mn-ea"/>
              </a:rPr>
              <a:t>body</a:t>
            </a:r>
            <a:r>
              <a:rPr lang="zh-CN" altLang="en-US" sz="1800">
                <a:latin typeface="+mn-ea"/>
                <a:sym typeface="+mn-ea"/>
              </a:rPr>
              <a:t>：循环体的操作</a:t>
            </a:r>
            <a:endParaRPr lang="zh-CN" altLang="en-US" sz="1800">
              <a:latin typeface="+mn-ea"/>
              <a:sym typeface="+mn-ea"/>
            </a:endParaRPr>
          </a:p>
          <a:p>
            <a:pPr lvl="3"/>
            <a:r>
              <a:rPr lang="zh-CN" altLang="en-US" sz="1800">
                <a:latin typeface="+mn-ea"/>
                <a:sym typeface="+mn-ea"/>
              </a:rPr>
              <a:t>TIntermTyped* </a:t>
            </a:r>
            <a:r>
              <a:rPr lang="zh-CN" altLang="en-US" sz="1800" b="1">
                <a:solidFill>
                  <a:srgbClr val="00B050"/>
                </a:solidFill>
                <a:latin typeface="+mn-ea"/>
                <a:sym typeface="+mn-ea"/>
              </a:rPr>
              <a:t>test</a:t>
            </a:r>
            <a:r>
              <a:rPr lang="zh-CN" altLang="en-US" sz="1800">
                <a:latin typeface="+mn-ea"/>
                <a:sym typeface="+mn-ea"/>
              </a:rPr>
              <a:t>：退出条件</a:t>
            </a:r>
            <a:endParaRPr lang="zh-CN" altLang="en-US" sz="1800">
              <a:latin typeface="+mn-ea"/>
              <a:sym typeface="+mn-ea"/>
            </a:endParaRPr>
          </a:p>
          <a:p>
            <a:pPr lvl="3"/>
            <a:r>
              <a:rPr lang="zh-CN" altLang="en-US">
                <a:latin typeface="+mn-ea"/>
                <a:sym typeface="+mn-ea"/>
              </a:rPr>
              <a:t>TIntermTyped* </a:t>
            </a:r>
            <a:r>
              <a:rPr lang="zh-CN" altLang="en-US" b="1">
                <a:solidFill>
                  <a:srgbClr val="00B050"/>
                </a:solidFill>
                <a:latin typeface="+mn-ea"/>
                <a:sym typeface="+mn-ea"/>
              </a:rPr>
              <a:t>terminal</a:t>
            </a:r>
            <a:r>
              <a:rPr lang="zh-CN" altLang="en-US">
                <a:latin typeface="+mn-ea"/>
                <a:sym typeface="+mn-ea"/>
              </a:rPr>
              <a:t>：退出后跳转到的代码段</a:t>
            </a:r>
            <a:endParaRPr lang="zh-CN" altLang="en-US">
              <a:latin typeface="+mn-ea"/>
              <a:sym typeface="+mn-ea"/>
            </a:endParaRPr>
          </a:p>
          <a:p>
            <a:pPr lvl="2"/>
            <a:r>
              <a:rPr lang="zh-CN" altLang="en-US" sz="2000" b="1">
                <a:solidFill>
                  <a:srgbClr val="00B0F0"/>
                </a:solidFill>
                <a:latin typeface="+mn-ea"/>
                <a:sym typeface="+mn-ea"/>
              </a:rPr>
              <a:t>TIntermBranch</a:t>
            </a:r>
            <a:r>
              <a:rPr lang="zh-CN" altLang="en-US" sz="2000">
                <a:latin typeface="+mn-ea"/>
                <a:sym typeface="+mn-ea"/>
              </a:rPr>
              <a:t>：break, continue, return的节点。包含如下成员：</a:t>
            </a:r>
            <a:endParaRPr lang="zh-CN" altLang="en-US" sz="2000">
              <a:latin typeface="+mn-ea"/>
              <a:sym typeface="+mn-ea"/>
            </a:endParaRPr>
          </a:p>
          <a:p>
            <a:pPr lvl="3" algn="l">
              <a:buSzTx/>
            </a:pPr>
            <a:r>
              <a:rPr lang="zh-CN" altLang="en-US" sz="1800">
                <a:latin typeface="+mn-ea"/>
                <a:sym typeface="+mn-ea"/>
              </a:rPr>
              <a:t>TOperator </a:t>
            </a:r>
            <a:r>
              <a:rPr lang="zh-CN" altLang="en-US" sz="1800" b="1">
                <a:solidFill>
                  <a:srgbClr val="00B050"/>
                </a:solidFill>
                <a:latin typeface="+mn-ea"/>
                <a:sym typeface="+mn-ea"/>
              </a:rPr>
              <a:t>flowOp</a:t>
            </a:r>
            <a:r>
              <a:rPr lang="zh-CN" altLang="en-US" sz="1800">
                <a:latin typeface="+mn-ea"/>
                <a:sym typeface="+mn-ea"/>
              </a:rPr>
              <a:t>：操作符类型的枚举值</a:t>
            </a:r>
            <a:endParaRPr lang="zh-CN" altLang="en-US" sz="1800">
              <a:latin typeface="+mn-ea"/>
              <a:sym typeface="+mn-ea"/>
            </a:endParaRPr>
          </a:p>
          <a:p>
            <a:pPr lvl="3" algn="l">
              <a:buSzTx/>
            </a:pPr>
            <a:r>
              <a:rPr lang="zh-CN" altLang="en-US" sz="1800">
                <a:latin typeface="+mn-ea"/>
                <a:sym typeface="+mn-ea"/>
              </a:rPr>
              <a:t>TIntermTyped* </a:t>
            </a:r>
            <a:r>
              <a:rPr lang="zh-CN" altLang="en-US" sz="1800" b="1">
                <a:solidFill>
                  <a:srgbClr val="00B050"/>
                </a:solidFill>
                <a:latin typeface="+mn-ea"/>
                <a:sym typeface="+mn-ea"/>
              </a:rPr>
              <a:t>expression</a:t>
            </a:r>
            <a:r>
              <a:rPr lang="zh-CN" altLang="en-US" sz="1800">
                <a:latin typeface="+mn-ea"/>
                <a:sym typeface="+mn-ea"/>
              </a:rPr>
              <a:t>：跳转到的代码段</a:t>
            </a:r>
            <a:endParaRPr lang="zh-CN" altLang="en-US" sz="2000">
              <a:latin typeface="+mn-ea"/>
              <a:sym typeface="+mn-ea"/>
            </a:endParaRPr>
          </a:p>
          <a:p>
            <a:pPr lvl="2"/>
            <a:r>
              <a:rPr lang="zh-CN" altLang="en-US" sz="2000" b="1">
                <a:solidFill>
                  <a:srgbClr val="00B0F0"/>
                </a:solidFill>
                <a:latin typeface="+mn-ea"/>
                <a:sym typeface="+mn-ea"/>
              </a:rPr>
              <a:t>TIntermTyped</a:t>
            </a:r>
            <a:r>
              <a:rPr lang="en-US" altLang="zh-CN" sz="2000" b="1">
                <a:solidFill>
                  <a:srgbClr val="00B0F0"/>
                </a:solidFill>
                <a:latin typeface="+mn-ea"/>
                <a:sym typeface="+mn-ea"/>
              </a:rPr>
              <a:t>::</a:t>
            </a:r>
            <a:r>
              <a:rPr lang="zh-CN" altLang="en-US" sz="2000" b="1">
                <a:solidFill>
                  <a:srgbClr val="00B0F0"/>
                </a:solidFill>
                <a:latin typeface="+mn-ea"/>
                <a:sym typeface="+mn-ea"/>
              </a:rPr>
              <a:t>TIntermSelection</a:t>
            </a:r>
            <a:r>
              <a:rPr lang="zh-CN" altLang="en-US" sz="2000">
                <a:latin typeface="+mn-ea"/>
                <a:sym typeface="+mn-ea"/>
              </a:rPr>
              <a:t>：</a:t>
            </a:r>
            <a:r>
              <a:rPr lang="en-US" altLang="zh-CN" sz="2000">
                <a:latin typeface="+mn-ea"/>
                <a:sym typeface="+mn-ea"/>
              </a:rPr>
              <a:t>if</a:t>
            </a:r>
            <a:r>
              <a:rPr lang="zh-CN" altLang="en-US" sz="2000">
                <a:latin typeface="+mn-ea"/>
                <a:sym typeface="+mn-ea"/>
              </a:rPr>
              <a:t>测试。包含三个成员：</a:t>
            </a:r>
            <a:endParaRPr lang="zh-CN" altLang="en-US" sz="2000">
              <a:latin typeface="+mn-ea"/>
              <a:sym typeface="+mn-ea"/>
            </a:endParaRPr>
          </a:p>
          <a:p>
            <a:pPr lvl="3"/>
            <a:r>
              <a:rPr lang="zh-CN" altLang="en-US">
                <a:latin typeface="+mn-ea"/>
                <a:sym typeface="+mn-ea"/>
              </a:rPr>
              <a:t>TIntermTyped* </a:t>
            </a:r>
            <a:r>
              <a:rPr lang="zh-CN" altLang="en-US" b="1">
                <a:solidFill>
                  <a:srgbClr val="00B050"/>
                </a:solidFill>
                <a:latin typeface="+mn-ea"/>
                <a:sym typeface="+mn-ea"/>
              </a:rPr>
              <a:t>condition</a:t>
            </a:r>
            <a:r>
              <a:rPr lang="zh-CN" altLang="en-US">
                <a:latin typeface="+mn-ea"/>
                <a:sym typeface="+mn-ea"/>
              </a:rPr>
              <a:t>;</a:t>
            </a:r>
            <a:r>
              <a:rPr lang="en-US" altLang="zh-CN" dirty="0">
                <a:latin typeface="+mn-ea"/>
                <a:sym typeface="+mn-ea"/>
              </a:rPr>
              <a:t> </a:t>
            </a:r>
            <a:r>
              <a:rPr lang="zh-CN" altLang="en-US">
                <a:latin typeface="+mn-ea"/>
                <a:sym typeface="+mn-ea"/>
              </a:rPr>
              <a:t>判断条件</a:t>
            </a:r>
            <a:endParaRPr lang="en-US" altLang="zh-CN" dirty="0">
              <a:latin typeface="+mn-ea"/>
              <a:sym typeface="+mn-ea"/>
            </a:endParaRPr>
          </a:p>
          <a:p>
            <a:pPr lvl="3"/>
            <a:r>
              <a:rPr lang="en-US" altLang="zh-CN" dirty="0">
                <a:latin typeface="+mn-ea"/>
                <a:sym typeface="+mn-ea"/>
              </a:rPr>
              <a:t>TIntermNode* </a:t>
            </a:r>
            <a:r>
              <a:rPr lang="en-US" altLang="zh-CN" b="1" dirty="0">
                <a:solidFill>
                  <a:srgbClr val="00B050"/>
                </a:solidFill>
                <a:latin typeface="+mn-ea"/>
                <a:sym typeface="+mn-ea"/>
              </a:rPr>
              <a:t>trueBlock</a:t>
            </a:r>
            <a:r>
              <a:rPr lang="en-US" altLang="zh-CN" dirty="0">
                <a:latin typeface="+mn-ea"/>
                <a:sym typeface="+mn-ea"/>
              </a:rPr>
              <a:t>; </a:t>
            </a:r>
            <a:r>
              <a:rPr lang="zh-CN" altLang="en-US">
                <a:latin typeface="+mn-ea"/>
                <a:sym typeface="+mn-ea"/>
              </a:rPr>
              <a:t>为真的操作</a:t>
            </a:r>
            <a:endParaRPr lang="en-US" altLang="zh-CN" dirty="0">
              <a:latin typeface="+mn-ea"/>
              <a:sym typeface="+mn-ea"/>
            </a:endParaRPr>
          </a:p>
          <a:p>
            <a:pPr lvl="3"/>
            <a:r>
              <a:rPr lang="en-US" altLang="zh-CN" dirty="0">
                <a:latin typeface="+mn-ea"/>
                <a:sym typeface="+mn-ea"/>
              </a:rPr>
              <a:t>TIntermNode* </a:t>
            </a:r>
            <a:r>
              <a:rPr lang="en-US" altLang="zh-CN" b="1" dirty="0">
                <a:solidFill>
                  <a:srgbClr val="00B050"/>
                </a:solidFill>
                <a:latin typeface="+mn-ea"/>
                <a:sym typeface="+mn-ea"/>
              </a:rPr>
              <a:t>falseBlock</a:t>
            </a:r>
            <a:r>
              <a:rPr lang="en-US" altLang="zh-CN" dirty="0">
                <a:latin typeface="+mn-ea"/>
                <a:sym typeface="+mn-ea"/>
              </a:rPr>
              <a:t>;</a:t>
            </a:r>
            <a:r>
              <a:rPr lang="zh-CN" altLang="en-US">
                <a:latin typeface="+mn-ea"/>
                <a:sym typeface="+mn-ea"/>
              </a:rPr>
              <a:t>为假的操作</a:t>
            </a:r>
            <a:endParaRPr lang="en-US" altLang="zh-CN" dirty="0">
              <a:latin typeface="+mn-ea"/>
            </a:endParaRPr>
          </a:p>
          <a:p>
            <a:pPr lvl="2"/>
            <a:endParaRPr lang="zh-CN" altLang="en-US" sz="2000">
              <a:latin typeface="+mn-ea"/>
              <a:sym typeface="+mn-ea"/>
            </a:endParaRPr>
          </a:p>
          <a:p>
            <a:pPr lvl="2"/>
            <a:endParaRPr lang="zh-CN" altLang="en-US" sz="2000">
              <a:latin typeface="+mn-ea"/>
              <a:sym typeface="+mn-ea"/>
            </a:endParaRPr>
          </a:p>
          <a:p>
            <a:pPr lvl="3"/>
            <a:endParaRPr lang="zh-CN" altLang="en-US" sz="2000" dirty="0">
              <a:latin typeface="+mn-ea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glslang</a:t>
            </a:r>
            <a:r>
              <a:rPr lang="en-US" altLang="zh-CN" dirty="0"/>
              <a:t> 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语法树</a:t>
            </a:r>
            <a:endParaRPr lang="zh-CN" alt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13245" y="1038224"/>
            <a:ext cx="11338560" cy="5280659"/>
          </a:xfrm>
        </p:spPr>
        <p:txBody>
          <a:bodyPr/>
          <a:lstStyle/>
          <a:p>
            <a:r>
              <a:rPr lang="zh-CN" altLang="en-US" sz="2800" b="1">
                <a:latin typeface="+mn-ea"/>
                <a:sym typeface="+mn-ea"/>
              </a:rPr>
              <a:t>节点</a:t>
            </a:r>
            <a:r>
              <a:rPr lang="zh-CN" altLang="en-US" sz="2800" b="1">
                <a:latin typeface="+mn-ea"/>
                <a:sym typeface="+mn-ea"/>
              </a:rPr>
              <a:t>相关函数</a:t>
            </a:r>
            <a:r>
              <a:rPr lang="zh-CN" altLang="en-US" sz="2800" b="1">
                <a:latin typeface="+mn-ea"/>
              </a:rPr>
              <a:t>：</a:t>
            </a:r>
            <a:endParaRPr lang="zh-CN" altLang="en-US" sz="2800" b="1">
              <a:latin typeface="+mn-ea"/>
            </a:endParaRPr>
          </a:p>
          <a:p>
            <a:pPr lvl="1" algn="l">
              <a:buSzTx/>
            </a:pPr>
            <a:r>
              <a:rPr lang="zh-CN" altLang="en-US" sz="2400">
                <a:latin typeface="+mn-ea"/>
              </a:rPr>
              <a:t>语法数相关的工具函数在</a:t>
            </a:r>
            <a:r>
              <a:rPr lang="zh-CN" altLang="en-US" sz="2400" b="1">
                <a:solidFill>
                  <a:srgbClr val="00B0F0"/>
                </a:solidFill>
                <a:latin typeface="+mn-ea"/>
              </a:rPr>
              <a:t>TIntermediate</a:t>
            </a:r>
            <a:r>
              <a:rPr lang="zh-CN" altLang="en-US" sz="2400">
                <a:latin typeface="+mn-ea"/>
              </a:rPr>
              <a:t>类中，定义在\glslang\MachineIndependent\localintermediate.h 和 \glslang\MachineIndependent\Intermediate.cpp 文件中</a:t>
            </a:r>
            <a:endParaRPr lang="zh-CN" altLang="en-US" sz="2400">
              <a:latin typeface="+mn-ea"/>
            </a:endParaRPr>
          </a:p>
          <a:p>
            <a:pPr lvl="2" algn="l">
              <a:buSzTx/>
            </a:pPr>
            <a:r>
              <a:rPr lang="zh-CN" altLang="en-US" sz="2000">
                <a:latin typeface="+mn-ea"/>
              </a:rPr>
              <a:t>包含一个用于输出的成员变量：TInfoSink&amp; </a:t>
            </a:r>
            <a:r>
              <a:rPr lang="zh-CN" altLang="en-US" sz="2000" b="1">
                <a:solidFill>
                  <a:srgbClr val="00B050"/>
                </a:solidFill>
                <a:latin typeface="+mn-ea"/>
              </a:rPr>
              <a:t>infoSink</a:t>
            </a:r>
            <a:r>
              <a:rPr lang="zh-CN" altLang="en-US" sz="2000">
                <a:latin typeface="+mn-ea"/>
              </a:rPr>
              <a:t>;</a:t>
            </a:r>
            <a:endParaRPr lang="zh-CN" altLang="en-US" sz="2000">
              <a:latin typeface="+mn-ea"/>
            </a:endParaRPr>
          </a:p>
          <a:p>
            <a:pPr lvl="2" algn="l">
              <a:buSzTx/>
            </a:pPr>
            <a:r>
              <a:rPr lang="zh-CN" altLang="en-US" sz="2000">
                <a:latin typeface="+mn-ea"/>
              </a:rPr>
              <a:t>包含两类函数：一个是输出树函数</a:t>
            </a:r>
            <a:r>
              <a:rPr lang="zh-CN" altLang="en-US" sz="2000" b="1">
                <a:solidFill>
                  <a:schemeClr val="accent1"/>
                </a:solidFill>
                <a:latin typeface="+mn-ea"/>
              </a:rPr>
              <a:t>outputTree</a:t>
            </a:r>
            <a:r>
              <a:rPr lang="en-US" altLang="zh-CN" sz="2000" b="1">
                <a:solidFill>
                  <a:schemeClr val="accent1"/>
                </a:solidFill>
                <a:latin typeface="+mn-ea"/>
              </a:rPr>
              <a:t>()</a:t>
            </a:r>
            <a:r>
              <a:rPr lang="en-US" altLang="zh-CN" sz="2000">
                <a:latin typeface="+mn-ea"/>
              </a:rPr>
              <a:t>,</a:t>
            </a:r>
            <a:r>
              <a:rPr lang="zh-CN" altLang="en-US" sz="2000">
                <a:latin typeface="+mn-ea"/>
              </a:rPr>
              <a:t>作为遍历树的示例。</a:t>
            </a:r>
            <a:endParaRPr lang="zh-CN" altLang="en-US" sz="2000">
              <a:latin typeface="+mn-ea"/>
            </a:endParaRPr>
          </a:p>
          <a:p>
            <a:pPr lvl="2" algn="l">
              <a:buSzTx/>
            </a:pPr>
            <a:r>
              <a:rPr lang="zh-CN" altLang="en-US" sz="2000">
                <a:latin typeface="+mn-ea"/>
              </a:rPr>
              <a:t>还有一类是新建各种节点如下函数：如</a:t>
            </a:r>
            <a:r>
              <a:rPr lang="zh-CN" altLang="en-US" sz="2000" b="1">
                <a:solidFill>
                  <a:schemeClr val="accent1"/>
                </a:solidFill>
                <a:latin typeface="+mn-ea"/>
              </a:rPr>
              <a:t>addSymbol</a:t>
            </a:r>
            <a:r>
              <a:rPr lang="en-US" altLang="zh-CN" sz="2000">
                <a:latin typeface="+mn-ea"/>
              </a:rPr>
              <a:t>(),</a:t>
            </a:r>
            <a:r>
              <a:rPr lang="en-US" altLang="zh-CN" sz="2000" b="1">
                <a:solidFill>
                  <a:schemeClr val="accent1"/>
                </a:solidFill>
                <a:latin typeface="+mn-ea"/>
              </a:rPr>
              <a:t>addBinaryMath</a:t>
            </a:r>
            <a:r>
              <a:rPr lang="en-US" altLang="zh-CN" sz="2000">
                <a:latin typeface="+mn-ea"/>
              </a:rPr>
              <a:t>(),</a:t>
            </a:r>
            <a:r>
              <a:rPr lang="en-US" altLang="zh-CN" sz="2000" b="1">
                <a:solidFill>
                  <a:schemeClr val="accent1"/>
                </a:solidFill>
                <a:latin typeface="+mn-ea"/>
              </a:rPr>
              <a:t>growAggregate</a:t>
            </a:r>
            <a:r>
              <a:rPr lang="en-US" altLang="zh-CN" sz="2000">
                <a:latin typeface="+mn-ea"/>
              </a:rPr>
              <a:t>()</a:t>
            </a:r>
            <a:r>
              <a:rPr lang="zh-CN" altLang="en-US" sz="2000">
                <a:latin typeface="+mn-ea"/>
              </a:rPr>
              <a:t>等</a:t>
            </a:r>
            <a:endParaRPr lang="zh-CN" altLang="en-US" sz="2000">
              <a:latin typeface="+mn-ea"/>
            </a:endParaRPr>
          </a:p>
          <a:p>
            <a:pPr lvl="2" algn="l">
              <a:buSzTx/>
            </a:pPr>
            <a:r>
              <a:rPr lang="zh-CN" altLang="en-US" dirty="0">
                <a:latin typeface="+mn-ea"/>
              </a:rPr>
              <a:t>新建节点的函数会被用在</a:t>
            </a:r>
            <a:r>
              <a:rPr lang="en-US" altLang="zh-CN" dirty="0">
                <a:latin typeface="+mn-ea"/>
              </a:rPr>
              <a:t>.y</a:t>
            </a:r>
            <a:r>
              <a:rPr lang="zh-CN" altLang="en-US" dirty="0">
                <a:latin typeface="+mn-ea"/>
              </a:rPr>
              <a:t>文件中</a:t>
            </a:r>
            <a:endParaRPr lang="zh-CN" altLang="en-US" dirty="0">
              <a:latin typeface="+mn-ea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glslang</a:t>
            </a:r>
            <a:r>
              <a:rPr lang="en-US" altLang="zh-CN" dirty="0"/>
              <a:t> 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语法树</a:t>
            </a:r>
            <a:endParaRPr lang="zh-CN" alt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13245" y="1038224"/>
            <a:ext cx="11338560" cy="5280659"/>
          </a:xfrm>
        </p:spPr>
        <p:txBody>
          <a:bodyPr/>
          <a:lstStyle/>
          <a:p>
            <a:r>
              <a:rPr lang="zh-CN" altLang="en-US" sz="2800" b="1">
                <a:latin typeface="+mn-ea"/>
                <a:sym typeface="+mn-ea"/>
              </a:rPr>
              <a:t>遍历语法树</a:t>
            </a:r>
            <a:r>
              <a:rPr lang="en-US" altLang="zh-CN" sz="2800" b="1">
                <a:latin typeface="+mn-ea"/>
                <a:sym typeface="+mn-ea"/>
              </a:rPr>
              <a:t>1</a:t>
            </a:r>
            <a:r>
              <a:rPr lang="zh-CN" altLang="en-US" sz="2800" b="1">
                <a:latin typeface="+mn-ea"/>
              </a:rPr>
              <a:t>：</a:t>
            </a:r>
            <a:endParaRPr lang="zh-CN" altLang="en-US" sz="2800" b="1">
              <a:latin typeface="+mn-ea"/>
            </a:endParaRPr>
          </a:p>
          <a:p>
            <a:pPr lvl="1" algn="l">
              <a:buSzTx/>
            </a:pPr>
            <a:r>
              <a:rPr lang="en-US" altLang="zh-CN" sz="2400">
                <a:latin typeface="+mn-ea"/>
              </a:rPr>
              <a:t>glslang</a:t>
            </a:r>
            <a:r>
              <a:rPr lang="zh-CN" altLang="en-US" sz="2400">
                <a:latin typeface="+mn-ea"/>
              </a:rPr>
              <a:t>用输出语法树作为遍历语法树的示例</a:t>
            </a:r>
            <a:endParaRPr lang="zh-CN" altLang="en-US" sz="2400">
              <a:latin typeface="+mn-ea"/>
            </a:endParaRPr>
          </a:p>
          <a:p>
            <a:pPr lvl="2" algn="l">
              <a:buSzTx/>
            </a:pPr>
            <a:r>
              <a:rPr lang="zh-CN" altLang="en-US" sz="2000">
                <a:latin typeface="+mn-ea"/>
              </a:rPr>
              <a:t>遍历器的</a:t>
            </a:r>
            <a:r>
              <a:rPr lang="zh-CN" altLang="en-US" sz="2000">
                <a:latin typeface="+mn-ea"/>
              </a:rPr>
              <a:t>数据结构为</a:t>
            </a:r>
            <a:r>
              <a:rPr lang="zh-CN" altLang="en-US" sz="2000" b="1">
                <a:solidFill>
                  <a:srgbClr val="00B0F0"/>
                </a:solidFill>
                <a:latin typeface="+mn-ea"/>
              </a:rPr>
              <a:t>TIntermTraverser</a:t>
            </a:r>
            <a:r>
              <a:rPr lang="zh-CN" altLang="en-US" sz="2000">
                <a:latin typeface="+mn-ea"/>
              </a:rPr>
              <a:t>定义在\glslang\Include\intermediate.h中</a:t>
            </a:r>
            <a:endParaRPr lang="zh-CN" altLang="en-US" sz="2000">
              <a:latin typeface="+mn-ea"/>
            </a:endParaRPr>
          </a:p>
          <a:p>
            <a:pPr lvl="3" algn="l">
              <a:buSzTx/>
            </a:pPr>
            <a:r>
              <a:rPr lang="zh-CN" altLang="en-US">
                <a:solidFill>
                  <a:schemeClr val="bg1"/>
                </a:solidFill>
                <a:latin typeface="+mn-ea"/>
                <a:sym typeface="+mn-ea"/>
              </a:rPr>
              <a:t>TIntermTraverser定义了一组函数指针，用于在遍历到各个节点类型时，所执行的函数。</a:t>
            </a:r>
            <a:endParaRPr lang="zh-CN" altLang="en-US">
              <a:solidFill>
                <a:schemeClr val="bg1"/>
              </a:solidFill>
              <a:latin typeface="+mn-ea"/>
              <a:sym typeface="+mn-ea"/>
            </a:endParaRPr>
          </a:p>
          <a:p>
            <a:pPr lvl="3" algn="l">
              <a:buSzTx/>
            </a:pPr>
            <a:r>
              <a:rPr lang="zh-CN" altLang="en-US" sz="1635">
                <a:latin typeface="+mn-ea"/>
              </a:rPr>
              <a:t>这组指针包括所有的节点类型，参见语法树相关类型定义的</a:t>
            </a:r>
            <a:endParaRPr lang="zh-CN" altLang="en-US" sz="1635">
              <a:latin typeface="+mn-ea"/>
            </a:endParaRPr>
          </a:p>
          <a:p>
            <a:pPr lvl="2" algn="l">
              <a:buSzTx/>
            </a:pPr>
            <a:r>
              <a:rPr lang="zh-CN" altLang="en-US" sz="2000">
                <a:latin typeface="+mn-ea"/>
              </a:rPr>
              <a:t>输出语法树的函数为TIntermediate::</a:t>
            </a:r>
            <a:r>
              <a:rPr lang="zh-CN" altLang="en-US" sz="2000" b="1">
                <a:solidFill>
                  <a:schemeClr val="accent1"/>
                </a:solidFill>
                <a:latin typeface="+mn-ea"/>
              </a:rPr>
              <a:t>outputTree</a:t>
            </a:r>
            <a:r>
              <a:rPr lang="zh-CN" altLang="en-US" sz="2000">
                <a:latin typeface="+mn-ea"/>
              </a:rPr>
              <a:t>(TIntermNode* root)，定义在\glslang\MachineIndependent\intermOut.cpp 文件中</a:t>
            </a:r>
            <a:endParaRPr lang="zh-CN" altLang="en-US" sz="2000">
              <a:latin typeface="+mn-ea"/>
            </a:endParaRPr>
          </a:p>
          <a:p>
            <a:pPr lvl="1" algn="l">
              <a:buSzTx/>
            </a:pPr>
            <a:r>
              <a:rPr lang="zh-CN" altLang="en-US" sz="2400">
                <a:latin typeface="+mn-ea"/>
              </a:rPr>
              <a:t>使用方法：</a:t>
            </a:r>
            <a:endParaRPr lang="zh-CN" altLang="en-US" sz="2400">
              <a:latin typeface="+mn-ea"/>
            </a:endParaRPr>
          </a:p>
          <a:p>
            <a:pPr lvl="2" algn="l">
              <a:buSzTx/>
            </a:pPr>
            <a:r>
              <a:rPr lang="zh-CN" altLang="en-US" sz="2030">
                <a:latin typeface="+mn-ea"/>
              </a:rPr>
              <a:t>用户定义自己的遍历器，继承自</a:t>
            </a:r>
            <a:r>
              <a:rPr lang="zh-CN" altLang="en-US" sz="2030">
                <a:latin typeface="+mn-ea"/>
                <a:sym typeface="+mn-ea"/>
              </a:rPr>
              <a:t>TIntermTraverser。</a:t>
            </a:r>
            <a:endParaRPr lang="zh-CN" altLang="en-US" sz="2030">
              <a:latin typeface="+mn-ea"/>
              <a:sym typeface="+mn-ea"/>
            </a:endParaRPr>
          </a:p>
          <a:p>
            <a:pPr lvl="2" algn="l">
              <a:buSzTx/>
            </a:pPr>
            <a:r>
              <a:rPr lang="zh-CN" altLang="en-US" sz="2030">
                <a:latin typeface="+mn-ea"/>
                <a:sym typeface="+mn-ea"/>
              </a:rPr>
              <a:t>用户需要为自己的遍历器实现各个类型的节点，需要执行的函数。如</a:t>
            </a:r>
            <a:r>
              <a:rPr lang="en-US" altLang="zh-CN" sz="2030">
                <a:latin typeface="+mn-ea"/>
                <a:sym typeface="+mn-ea"/>
              </a:rPr>
              <a:t>MyVisiteBinary(),MyVisiteUnary()</a:t>
            </a:r>
            <a:r>
              <a:rPr lang="zh-CN" altLang="en-US" sz="2030">
                <a:latin typeface="+mn-ea"/>
                <a:sym typeface="+mn-ea"/>
              </a:rPr>
              <a:t>等，并将这些函数付给</a:t>
            </a:r>
            <a:r>
              <a:rPr lang="zh-CN" altLang="en-US" sz="2025">
                <a:latin typeface="+mn-ea"/>
                <a:sym typeface="+mn-ea"/>
              </a:rPr>
              <a:t>TIntermTraverser的函数指针。</a:t>
            </a:r>
            <a:endParaRPr lang="zh-CN" altLang="en-US" sz="2025">
              <a:latin typeface="+mn-ea"/>
              <a:sym typeface="+mn-ea"/>
            </a:endParaRPr>
          </a:p>
          <a:p>
            <a:pPr lvl="2" algn="l">
              <a:buSzTx/>
            </a:pPr>
            <a:r>
              <a:rPr lang="zh-CN" altLang="en-US" sz="2025">
                <a:latin typeface="+mn-ea"/>
                <a:sym typeface="+mn-ea"/>
              </a:rPr>
              <a:t>调用树的根节点的</a:t>
            </a:r>
            <a:r>
              <a:rPr lang="en-US" altLang="zh-CN" sz="2025">
                <a:latin typeface="+mn-ea"/>
                <a:sym typeface="+mn-ea"/>
              </a:rPr>
              <a:t>root-&gt;</a:t>
            </a:r>
            <a:r>
              <a:rPr lang="en-US" altLang="zh-CN" sz="2025" b="1">
                <a:solidFill>
                  <a:schemeClr val="accent1"/>
                </a:solidFill>
                <a:latin typeface="+mn-ea"/>
                <a:sym typeface="+mn-ea"/>
              </a:rPr>
              <a:t>traverse</a:t>
            </a:r>
            <a:r>
              <a:rPr lang="en-US" altLang="zh-CN" sz="2025">
                <a:latin typeface="+mn-ea"/>
                <a:sym typeface="+mn-ea"/>
              </a:rPr>
              <a:t>(MyIt)</a:t>
            </a:r>
            <a:r>
              <a:rPr lang="zh-CN" altLang="en-US" sz="2025">
                <a:latin typeface="+mn-ea"/>
                <a:sym typeface="+mn-ea"/>
              </a:rPr>
              <a:t>，并传递自己定义的遍历器</a:t>
            </a:r>
            <a:endParaRPr lang="zh-CN" altLang="en-US" sz="2030">
              <a:latin typeface="+mn-ea"/>
              <a:sym typeface="+mn-ea"/>
            </a:endParaRPr>
          </a:p>
          <a:p>
            <a:pPr lvl="2" algn="l">
              <a:buSzTx/>
            </a:pPr>
            <a:endParaRPr lang="zh-CN" altLang="en-US" sz="2030">
              <a:latin typeface="+mn-ea"/>
            </a:endParaRPr>
          </a:p>
          <a:p>
            <a:pPr lvl="1" algn="l">
              <a:buSzTx/>
            </a:pPr>
            <a:endParaRPr lang="zh-CN" altLang="en-US" sz="2400" dirty="0">
              <a:latin typeface="+mn-ea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glslang</a:t>
            </a:r>
            <a:r>
              <a:rPr lang="en-US" altLang="zh-CN" dirty="0"/>
              <a:t> 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语法树</a:t>
            </a:r>
            <a:endParaRPr lang="zh-CN" alt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13245" y="1038224"/>
            <a:ext cx="11338560" cy="5280659"/>
          </a:xfrm>
        </p:spPr>
        <p:txBody>
          <a:bodyPr/>
          <a:lstStyle/>
          <a:p>
            <a:r>
              <a:rPr lang="zh-CN" altLang="en-US" sz="2800" b="1">
                <a:latin typeface="+mn-ea"/>
                <a:sym typeface="+mn-ea"/>
              </a:rPr>
              <a:t>遍历语法树</a:t>
            </a:r>
            <a:r>
              <a:rPr lang="en-US" altLang="zh-CN" sz="2800" b="1">
                <a:latin typeface="+mn-ea"/>
                <a:sym typeface="+mn-ea"/>
              </a:rPr>
              <a:t>2</a:t>
            </a:r>
            <a:r>
              <a:rPr lang="zh-CN" altLang="en-US" sz="2800" b="1">
                <a:latin typeface="+mn-ea"/>
              </a:rPr>
              <a:t>：</a:t>
            </a:r>
            <a:endParaRPr lang="zh-CN" altLang="en-US" sz="2800" b="1">
              <a:latin typeface="+mn-ea"/>
            </a:endParaRPr>
          </a:p>
          <a:p>
            <a:pPr lvl="1" algn="l">
              <a:buSzTx/>
            </a:pPr>
            <a:r>
              <a:rPr lang="zh-CN" altLang="en-US" sz="2400">
                <a:latin typeface="+mn-ea"/>
              </a:rPr>
              <a:t>遍历器的数据结构为</a:t>
            </a:r>
            <a:r>
              <a:rPr lang="zh-CN" altLang="en-US" sz="2400" b="1">
                <a:solidFill>
                  <a:srgbClr val="00B0F0"/>
                </a:solidFill>
                <a:latin typeface="+mn-ea"/>
              </a:rPr>
              <a:t>TIntermTraverser</a:t>
            </a:r>
            <a:r>
              <a:rPr lang="zh-CN" altLang="en-US" sz="2400">
                <a:latin typeface="+mn-ea"/>
              </a:rPr>
              <a:t>定义在\glslang\Include\intermediate.h中</a:t>
            </a:r>
            <a:endParaRPr lang="zh-CN" altLang="en-US" sz="2400">
              <a:latin typeface="+mn-ea"/>
            </a:endParaRPr>
          </a:p>
          <a:p>
            <a:pPr lvl="2" algn="l">
              <a:buSzTx/>
            </a:pPr>
            <a:r>
              <a:rPr lang="zh-CN" altLang="en-US" sz="2000">
                <a:solidFill>
                  <a:schemeClr val="bg1"/>
                </a:solidFill>
                <a:latin typeface="+mn-ea"/>
                <a:sym typeface="+mn-ea"/>
              </a:rPr>
              <a:t>TIntermTraverser定义了一组函数指针，如</a:t>
            </a:r>
            <a:r>
              <a:rPr lang="zh-CN" altLang="en-US" sz="2000" b="1">
                <a:solidFill>
                  <a:srgbClr val="00B050"/>
                </a:solidFill>
                <a:latin typeface="+mn-ea"/>
                <a:sym typeface="+mn-ea"/>
              </a:rPr>
              <a:t>visitBinary</a:t>
            </a:r>
            <a:r>
              <a:rPr lang="en-US" altLang="zh-CN" sz="2000">
                <a:solidFill>
                  <a:schemeClr val="bg1"/>
                </a:solidFill>
                <a:latin typeface="+mn-ea"/>
                <a:sym typeface="+mn-ea"/>
              </a:rPr>
              <a:t>, </a:t>
            </a:r>
            <a:r>
              <a:rPr lang="en-US" altLang="zh-CN" sz="2000" b="1">
                <a:solidFill>
                  <a:srgbClr val="00B050"/>
                </a:solidFill>
                <a:latin typeface="+mn-ea"/>
                <a:sym typeface="+mn-ea"/>
              </a:rPr>
              <a:t>visitAggregate</a:t>
            </a:r>
            <a:r>
              <a:rPr lang="en-US" altLang="zh-CN" sz="2000">
                <a:solidFill>
                  <a:schemeClr val="bg1"/>
                </a:solidFill>
                <a:latin typeface="+mn-ea"/>
                <a:sym typeface="+mn-ea"/>
              </a:rPr>
              <a:t>, </a:t>
            </a:r>
            <a:r>
              <a:rPr lang="en-US" altLang="zh-CN" sz="2000" b="1">
                <a:solidFill>
                  <a:srgbClr val="00B050"/>
                </a:solidFill>
                <a:latin typeface="+mn-ea"/>
                <a:sym typeface="+mn-ea"/>
              </a:rPr>
              <a:t>visitBranch</a:t>
            </a:r>
            <a:r>
              <a:rPr lang="zh-CN" altLang="en-US" sz="2000">
                <a:solidFill>
                  <a:schemeClr val="bg1"/>
                </a:solidFill>
                <a:latin typeface="+mn-ea"/>
                <a:sym typeface="+mn-ea"/>
              </a:rPr>
              <a:t>等</a:t>
            </a:r>
            <a:r>
              <a:rPr lang="zh-CN" altLang="en-US" sz="2000">
                <a:solidFill>
                  <a:schemeClr val="bg1"/>
                </a:solidFill>
                <a:latin typeface="+mn-ea"/>
                <a:sym typeface="+mn-ea"/>
              </a:rPr>
              <a:t>用于在遍历到各个节点类型时，所执行的函数。</a:t>
            </a:r>
            <a:endParaRPr lang="zh-CN" altLang="en-US" sz="2000">
              <a:solidFill>
                <a:schemeClr val="bg1"/>
              </a:solidFill>
              <a:latin typeface="+mn-ea"/>
              <a:sym typeface="+mn-ea"/>
            </a:endParaRPr>
          </a:p>
          <a:p>
            <a:pPr lvl="2" algn="l">
              <a:buSzTx/>
            </a:pPr>
            <a:r>
              <a:rPr lang="zh-CN" altLang="en-US" sz="2000">
                <a:latin typeface="+mn-ea"/>
              </a:rPr>
              <a:t>这组指针包括所有的节点类型，参见语法树相关类型定义</a:t>
            </a:r>
            <a:endParaRPr lang="zh-CN" altLang="en-US" sz="2000">
              <a:latin typeface="+mn-ea"/>
            </a:endParaRPr>
          </a:p>
          <a:p>
            <a:pPr lvl="2" algn="l">
              <a:buSzTx/>
            </a:pPr>
            <a:r>
              <a:rPr lang="zh-CN" altLang="en-US" sz="2000">
                <a:latin typeface="+mn-ea"/>
              </a:rPr>
              <a:t>节点基础类型</a:t>
            </a:r>
            <a:r>
              <a:rPr lang="zh-CN" altLang="en-US" sz="2000" b="1">
                <a:solidFill>
                  <a:srgbClr val="00B0F0"/>
                </a:solidFill>
                <a:latin typeface="+mn-ea"/>
                <a:sym typeface="+mn-ea"/>
              </a:rPr>
              <a:t>TIntermNode</a:t>
            </a:r>
            <a:r>
              <a:rPr lang="zh-CN" altLang="en-US" sz="2000">
                <a:latin typeface="+mn-ea"/>
                <a:sym typeface="+mn-ea"/>
              </a:rPr>
              <a:t>定义了节点的遍历虚函数</a:t>
            </a:r>
            <a:r>
              <a:rPr lang="zh-CN" altLang="en-US" sz="2000" b="1">
                <a:solidFill>
                  <a:schemeClr val="accent1"/>
                </a:solidFill>
                <a:latin typeface="+mn-ea"/>
                <a:sym typeface="+mn-ea"/>
              </a:rPr>
              <a:t>traverse</a:t>
            </a:r>
            <a:r>
              <a:rPr lang="zh-CN" altLang="en-US" sz="2000">
                <a:latin typeface="+mn-ea"/>
                <a:sym typeface="+mn-ea"/>
              </a:rPr>
              <a:t>(TIntermTraverser*)，传入需要的遍历器</a:t>
            </a:r>
            <a:endParaRPr lang="zh-CN" altLang="en-US" sz="2000">
              <a:latin typeface="+mn-ea"/>
              <a:sym typeface="+mn-ea"/>
            </a:endParaRPr>
          </a:p>
          <a:p>
            <a:pPr lvl="2" algn="l">
              <a:buSzTx/>
            </a:pPr>
            <a:r>
              <a:rPr lang="zh-CN" altLang="en-US" sz="2000">
                <a:latin typeface="+mn-ea"/>
                <a:sym typeface="+mn-ea"/>
              </a:rPr>
              <a:t>所有节点类型实现了自己的遍历函数</a:t>
            </a:r>
            <a:r>
              <a:rPr lang="en-US" altLang="zh-CN" sz="2000">
                <a:latin typeface="+mn-ea"/>
                <a:sym typeface="+mn-ea"/>
              </a:rPr>
              <a:t>traverse()</a:t>
            </a:r>
            <a:r>
              <a:rPr lang="zh-CN" altLang="en-US" sz="2000">
                <a:latin typeface="+mn-ea"/>
                <a:sym typeface="+mn-ea"/>
              </a:rPr>
              <a:t>。比如TIntermBinary::traverse(TIntermTraverser* it)，TIntermAggregate::traverse(TIntermTraverser* it)等，这些函数定义在\glslang\MachineIndependent\IntermTraverse.cpp 文件中</a:t>
            </a:r>
            <a:endParaRPr lang="zh-CN" altLang="en-US" sz="2000">
              <a:latin typeface="+mn-ea"/>
              <a:sym typeface="+mn-ea"/>
            </a:endParaRPr>
          </a:p>
          <a:p>
            <a:pPr lvl="2" algn="l">
              <a:buSzTx/>
            </a:pPr>
            <a:r>
              <a:rPr lang="zh-CN" altLang="en-US" sz="2000">
                <a:latin typeface="+mn-ea"/>
                <a:sym typeface="+mn-ea"/>
              </a:rPr>
              <a:t>在每种节点的</a:t>
            </a:r>
            <a:r>
              <a:rPr lang="en-US" altLang="zh-CN" sz="2000">
                <a:latin typeface="+mn-ea"/>
                <a:sym typeface="+mn-ea"/>
              </a:rPr>
              <a:t>traverse()</a:t>
            </a:r>
            <a:r>
              <a:rPr lang="zh-CN" altLang="en-US" sz="2000">
                <a:latin typeface="+mn-ea"/>
                <a:sym typeface="+mn-ea"/>
              </a:rPr>
              <a:t>函数中，会调用传入的遍历器的</a:t>
            </a:r>
            <a:r>
              <a:rPr lang="en-US" altLang="zh-CN" sz="2000">
                <a:latin typeface="+mn-ea"/>
                <a:sym typeface="+mn-ea"/>
              </a:rPr>
              <a:t>visitXxxx</a:t>
            </a:r>
            <a:r>
              <a:rPr lang="zh-CN" altLang="en-US" sz="2000">
                <a:latin typeface="+mn-ea"/>
                <a:sym typeface="+mn-ea"/>
              </a:rPr>
              <a:t>函数，这些函数就是用户自己定义的函数</a:t>
            </a:r>
            <a:endParaRPr lang="zh-CN" altLang="en-US" sz="2000">
              <a:latin typeface="+mn-ea"/>
              <a:sym typeface="+mn-ea"/>
            </a:endParaRPr>
          </a:p>
          <a:p>
            <a:pPr lvl="2" algn="l">
              <a:buSzTx/>
            </a:pPr>
            <a:r>
              <a:rPr lang="zh-CN" altLang="en-US" sz="2000">
                <a:latin typeface="+mn-ea"/>
                <a:sym typeface="+mn-ea"/>
              </a:rPr>
              <a:t>所以遍历树的方法就是调用根节点的</a:t>
            </a:r>
            <a:r>
              <a:rPr lang="en-US" altLang="zh-CN" sz="2000">
                <a:latin typeface="+mn-ea"/>
                <a:sym typeface="+mn-ea"/>
              </a:rPr>
              <a:t>travers()</a:t>
            </a:r>
            <a:r>
              <a:rPr lang="zh-CN" altLang="en-US" sz="2000">
                <a:latin typeface="+mn-ea"/>
                <a:sym typeface="+mn-ea"/>
              </a:rPr>
              <a:t>函数，并将自己定义的遍历器传入。</a:t>
            </a:r>
            <a:endParaRPr lang="zh-CN" altLang="en-US" sz="2000">
              <a:latin typeface="+mn-ea"/>
              <a:sym typeface="+mn-ea"/>
            </a:endParaRPr>
          </a:p>
          <a:p>
            <a:pPr lvl="2" algn="l">
              <a:buSzTx/>
            </a:pPr>
            <a:endParaRPr lang="zh-CN" altLang="en-US" sz="2030">
              <a:latin typeface="+mn-ea"/>
            </a:endParaRPr>
          </a:p>
          <a:p>
            <a:pPr lvl="1" algn="l">
              <a:buSzTx/>
            </a:pPr>
            <a:endParaRPr lang="zh-CN" altLang="en-US" sz="2400" dirty="0">
              <a:latin typeface="+mn-ea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glslang</a:t>
            </a:r>
            <a:r>
              <a:rPr lang="en-US" altLang="zh-CN" dirty="0"/>
              <a:t> 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语法树</a:t>
            </a:r>
            <a:endParaRPr lang="zh-CN" alt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13245" y="1038224"/>
            <a:ext cx="11338560" cy="5280659"/>
          </a:xfrm>
        </p:spPr>
        <p:txBody>
          <a:bodyPr/>
          <a:lstStyle/>
          <a:p>
            <a:r>
              <a:rPr lang="zh-CN" altLang="en-US" sz="2800" b="1">
                <a:latin typeface="+mn-ea"/>
                <a:sym typeface="+mn-ea"/>
              </a:rPr>
              <a:t>数据结构</a:t>
            </a:r>
            <a:r>
              <a:rPr lang="en-US" altLang="zh-CN" sz="2800" b="1">
                <a:latin typeface="+mn-ea"/>
                <a:sym typeface="+mn-ea"/>
              </a:rPr>
              <a:t>1</a:t>
            </a:r>
            <a:r>
              <a:rPr lang="zh-CN" altLang="en-US" sz="2800" b="1">
                <a:latin typeface="+mn-ea"/>
              </a:rPr>
              <a:t>：</a:t>
            </a:r>
            <a:endParaRPr lang="zh-CN" altLang="en-US" sz="2800" b="1">
              <a:latin typeface="+mn-ea"/>
            </a:endParaRPr>
          </a:p>
          <a:p>
            <a:pPr lvl="1" algn="l">
              <a:buSzTx/>
            </a:pPr>
            <a:r>
              <a:rPr lang="zh-CN" altLang="en-US" sz="2400">
                <a:latin typeface="+mn-ea"/>
              </a:rPr>
              <a:t>符号的基类为遍历器的数据结构为</a:t>
            </a:r>
            <a:r>
              <a:rPr lang="zh-CN" altLang="en-US" sz="2400" b="1">
                <a:solidFill>
                  <a:srgbClr val="00B0F0"/>
                </a:solidFill>
                <a:latin typeface="+mn-ea"/>
              </a:rPr>
              <a:t>TSymbol</a:t>
            </a:r>
            <a:r>
              <a:rPr lang="zh-CN" altLang="en-US" sz="2400">
                <a:latin typeface="+mn-ea"/>
              </a:rPr>
              <a:t>定义在\glslang\MachineIndependent\SymbolTable.h中</a:t>
            </a:r>
            <a:endParaRPr lang="zh-CN" altLang="en-US" sz="2400">
              <a:latin typeface="+mn-ea"/>
            </a:endParaRPr>
          </a:p>
          <a:p>
            <a:pPr lvl="1" algn="l">
              <a:buSzTx/>
            </a:pPr>
            <a:r>
              <a:rPr lang="en-US" altLang="zh-CN" sz="2400">
                <a:latin typeface="+mn-ea"/>
                <a:sym typeface="+mn-ea"/>
              </a:rPr>
              <a:t>TSymbol</a:t>
            </a:r>
            <a:r>
              <a:rPr lang="zh-CN" altLang="en-US" sz="2400">
                <a:latin typeface="+mn-ea"/>
                <a:sym typeface="+mn-ea"/>
              </a:rPr>
              <a:t>包含两个成员：符号名</a:t>
            </a:r>
            <a:r>
              <a:rPr lang="en-US" altLang="zh-CN" sz="2400">
                <a:latin typeface="+mn-ea"/>
                <a:sym typeface="+mn-ea"/>
              </a:rPr>
              <a:t>TString *</a:t>
            </a:r>
            <a:r>
              <a:rPr lang="en-US" altLang="zh-CN" sz="2400" b="1">
                <a:solidFill>
                  <a:srgbClr val="00B050"/>
                </a:solidFill>
                <a:latin typeface="+mn-ea"/>
                <a:sym typeface="+mn-ea"/>
              </a:rPr>
              <a:t>name</a:t>
            </a:r>
            <a:r>
              <a:rPr lang="zh-CN" altLang="en-US" sz="2400">
                <a:latin typeface="+mn-ea"/>
                <a:sym typeface="+mn-ea"/>
              </a:rPr>
              <a:t>和符号</a:t>
            </a:r>
            <a:r>
              <a:rPr lang="en-US" altLang="zh-CN" sz="2400">
                <a:latin typeface="+mn-ea"/>
                <a:sym typeface="+mn-ea"/>
              </a:rPr>
              <a:t>id: </a:t>
            </a:r>
            <a:r>
              <a:rPr lang="zh-CN" altLang="en-US" sz="2400">
                <a:latin typeface="+mn-ea"/>
                <a:sym typeface="+mn-ea"/>
              </a:rPr>
              <a:t>int </a:t>
            </a:r>
            <a:r>
              <a:rPr lang="zh-CN" altLang="en-US" sz="2400" b="1">
                <a:solidFill>
                  <a:srgbClr val="00B050"/>
                </a:solidFill>
                <a:latin typeface="+mn-ea"/>
                <a:sym typeface="+mn-ea"/>
              </a:rPr>
              <a:t>uniqueId</a:t>
            </a:r>
            <a:r>
              <a:rPr lang="zh-CN" altLang="en-US" sz="2400">
                <a:latin typeface="+mn-ea"/>
                <a:sym typeface="+mn-ea"/>
              </a:rPr>
              <a:t>;</a:t>
            </a:r>
            <a:endParaRPr lang="zh-CN" altLang="en-US" sz="2400">
              <a:latin typeface="+mn-ea"/>
              <a:sym typeface="+mn-ea"/>
            </a:endParaRPr>
          </a:p>
          <a:p>
            <a:pPr lvl="1" algn="l">
              <a:buSzTx/>
            </a:pPr>
            <a:r>
              <a:rPr lang="zh-CN" altLang="en-US" sz="2400">
                <a:latin typeface="+mn-ea"/>
                <a:sym typeface="+mn-ea"/>
              </a:rPr>
              <a:t>使用的符号继承自</a:t>
            </a:r>
            <a:r>
              <a:rPr lang="en-US" altLang="zh-CN" sz="2400">
                <a:latin typeface="+mn-ea"/>
                <a:sym typeface="+mn-ea"/>
              </a:rPr>
              <a:t>TSymbol</a:t>
            </a:r>
            <a:r>
              <a:rPr lang="zh-CN" altLang="en-US" sz="2400">
                <a:latin typeface="+mn-ea"/>
                <a:sym typeface="+mn-ea"/>
              </a:rPr>
              <a:t>，包括：</a:t>
            </a:r>
            <a:endParaRPr lang="zh-CN" altLang="en-US" sz="2400">
              <a:latin typeface="+mn-ea"/>
              <a:sym typeface="+mn-ea"/>
            </a:endParaRPr>
          </a:p>
          <a:p>
            <a:pPr lvl="2" algn="l">
              <a:buSzTx/>
            </a:pPr>
            <a:r>
              <a:rPr lang="zh-CN" altLang="en-US" sz="2000" b="1">
                <a:solidFill>
                  <a:srgbClr val="00B0F0"/>
                </a:solidFill>
                <a:latin typeface="+mn-ea"/>
                <a:sym typeface="+mn-ea"/>
              </a:rPr>
              <a:t>TVariable</a:t>
            </a:r>
            <a:r>
              <a:rPr lang="zh-CN" altLang="en-US" sz="2000">
                <a:latin typeface="+mn-ea"/>
                <a:sym typeface="+mn-ea"/>
              </a:rPr>
              <a:t>：变量。成员包括变量类型：TType </a:t>
            </a:r>
            <a:r>
              <a:rPr lang="zh-CN" altLang="en-US" sz="2000" b="1">
                <a:solidFill>
                  <a:srgbClr val="00B050"/>
                </a:solidFill>
                <a:latin typeface="+mn-ea"/>
                <a:sym typeface="+mn-ea"/>
              </a:rPr>
              <a:t>type</a:t>
            </a:r>
            <a:endParaRPr lang="zh-CN" altLang="en-US" sz="2000">
              <a:latin typeface="+mn-ea"/>
              <a:sym typeface="+mn-ea"/>
            </a:endParaRPr>
          </a:p>
          <a:p>
            <a:pPr lvl="2" algn="l">
              <a:buSzTx/>
            </a:pPr>
            <a:r>
              <a:rPr lang="zh-CN" altLang="en-US" sz="2000" b="1">
                <a:solidFill>
                  <a:srgbClr val="00B0F0"/>
                </a:solidFill>
                <a:latin typeface="+mn-ea"/>
                <a:sym typeface="+mn-ea"/>
              </a:rPr>
              <a:t>TFunction</a:t>
            </a:r>
            <a:r>
              <a:rPr lang="zh-CN" altLang="en-US" sz="2000">
                <a:latin typeface="+mn-ea"/>
                <a:sym typeface="+mn-ea"/>
              </a:rPr>
              <a:t>：函数。包括如下成员：</a:t>
            </a:r>
            <a:endParaRPr lang="zh-CN" altLang="en-US" sz="2000">
              <a:latin typeface="+mn-ea"/>
              <a:sym typeface="+mn-ea"/>
            </a:endParaRPr>
          </a:p>
          <a:p>
            <a:pPr lvl="3" algn="l">
              <a:buSzTx/>
            </a:pPr>
            <a:r>
              <a:rPr lang="zh-CN" altLang="en-US">
                <a:latin typeface="+mn-ea"/>
                <a:sym typeface="+mn-ea"/>
              </a:rPr>
              <a:t>TType </a:t>
            </a:r>
            <a:r>
              <a:rPr lang="zh-CN" altLang="en-US" b="1">
                <a:solidFill>
                  <a:srgbClr val="00B050"/>
                </a:solidFill>
                <a:latin typeface="+mn-ea"/>
                <a:sym typeface="+mn-ea"/>
              </a:rPr>
              <a:t>returnType</a:t>
            </a:r>
            <a:r>
              <a:rPr lang="zh-CN" altLang="en-US">
                <a:latin typeface="+mn-ea"/>
                <a:sym typeface="+mn-ea"/>
              </a:rPr>
              <a:t>：</a:t>
            </a:r>
            <a:r>
              <a:rPr lang="zh-CN" altLang="en-US">
                <a:latin typeface="+mn-ea"/>
                <a:sym typeface="+mn-ea"/>
              </a:rPr>
              <a:t>返</a:t>
            </a:r>
            <a:r>
              <a:rPr lang="zh-CN" altLang="en-US">
                <a:latin typeface="+mn-ea"/>
                <a:sym typeface="+mn-ea"/>
              </a:rPr>
              <a:t>回类型</a:t>
            </a:r>
            <a:endParaRPr lang="zh-CN" altLang="en-US">
              <a:latin typeface="+mn-ea"/>
              <a:sym typeface="+mn-ea"/>
            </a:endParaRPr>
          </a:p>
          <a:p>
            <a:pPr lvl="3" algn="l">
              <a:buSzTx/>
            </a:pPr>
            <a:r>
              <a:rPr lang="zh-CN" altLang="en-US">
                <a:latin typeface="+mn-ea"/>
                <a:sym typeface="+mn-ea"/>
              </a:rPr>
              <a:t>TParamList </a:t>
            </a:r>
            <a:r>
              <a:rPr lang="zh-CN" altLang="en-US" b="1">
                <a:solidFill>
                  <a:srgbClr val="00B050"/>
                </a:solidFill>
                <a:latin typeface="+mn-ea"/>
                <a:sym typeface="+mn-ea"/>
              </a:rPr>
              <a:t>parameters</a:t>
            </a:r>
            <a:r>
              <a:rPr lang="zh-CN" altLang="en-US">
                <a:latin typeface="+mn-ea"/>
                <a:sym typeface="+mn-ea"/>
              </a:rPr>
              <a:t>：参数列表</a:t>
            </a:r>
            <a:endParaRPr lang="zh-CN" altLang="en-US">
              <a:latin typeface="+mn-ea"/>
              <a:sym typeface="+mn-ea"/>
            </a:endParaRPr>
          </a:p>
          <a:p>
            <a:pPr lvl="3" algn="l">
              <a:buSzTx/>
            </a:pPr>
            <a:r>
              <a:rPr lang="zh-CN" altLang="en-US">
                <a:latin typeface="+mn-ea"/>
                <a:sym typeface="+mn-ea"/>
              </a:rPr>
              <a:t>TString </a:t>
            </a:r>
            <a:r>
              <a:rPr lang="zh-CN" altLang="en-US" b="1">
                <a:solidFill>
                  <a:srgbClr val="00B050"/>
                </a:solidFill>
                <a:latin typeface="+mn-ea"/>
                <a:sym typeface="+mn-ea"/>
              </a:rPr>
              <a:t>mangledName</a:t>
            </a:r>
            <a:r>
              <a:rPr lang="zh-CN" altLang="en-US">
                <a:latin typeface="+mn-ea"/>
                <a:sym typeface="+mn-ea"/>
              </a:rPr>
              <a:t>：</a:t>
            </a:r>
            <a:endParaRPr lang="zh-CN" altLang="en-US">
              <a:latin typeface="+mn-ea"/>
              <a:sym typeface="+mn-ea"/>
            </a:endParaRPr>
          </a:p>
          <a:p>
            <a:pPr lvl="3" algn="l">
              <a:buSzTx/>
            </a:pPr>
            <a:r>
              <a:rPr lang="zh-CN" altLang="en-US">
                <a:latin typeface="+mn-ea"/>
                <a:sym typeface="+mn-ea"/>
              </a:rPr>
              <a:t>TOperator </a:t>
            </a:r>
            <a:r>
              <a:rPr lang="zh-CN" altLang="en-US" b="1">
                <a:solidFill>
                  <a:srgbClr val="00B050"/>
                </a:solidFill>
                <a:latin typeface="+mn-ea"/>
                <a:sym typeface="+mn-ea"/>
              </a:rPr>
              <a:t>op</a:t>
            </a:r>
            <a:r>
              <a:rPr lang="zh-CN" altLang="en-US">
                <a:latin typeface="+mn-ea"/>
                <a:sym typeface="+mn-ea"/>
              </a:rPr>
              <a:t>：</a:t>
            </a:r>
            <a:endParaRPr lang="zh-CN" altLang="en-US">
              <a:latin typeface="+mn-ea"/>
              <a:sym typeface="+mn-ea"/>
            </a:endParaRPr>
          </a:p>
          <a:p>
            <a:pPr lvl="3" algn="l">
              <a:buSzTx/>
            </a:pPr>
            <a:endParaRPr lang="zh-CN" altLang="en-US" sz="1630">
              <a:latin typeface="+mn-ea"/>
              <a:sym typeface="+mn-ea"/>
            </a:endParaRPr>
          </a:p>
          <a:p>
            <a:pPr lvl="2" algn="l">
              <a:buSzTx/>
            </a:pPr>
            <a:endParaRPr lang="zh-CN" altLang="en-US" sz="2030">
              <a:latin typeface="+mn-ea"/>
            </a:endParaRPr>
          </a:p>
          <a:p>
            <a:pPr lvl="1" algn="l">
              <a:buSzTx/>
            </a:pPr>
            <a:endParaRPr lang="zh-CN" altLang="en-US" sz="2400" dirty="0">
              <a:latin typeface="+mn-ea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glslang</a:t>
            </a:r>
            <a:r>
              <a:rPr lang="en-US" altLang="zh-CN" dirty="0"/>
              <a:t> 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符号表</a:t>
            </a:r>
            <a:endParaRPr lang="zh-CN" alt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13245" y="1038224"/>
            <a:ext cx="11338560" cy="5280659"/>
          </a:xfrm>
        </p:spPr>
        <p:txBody>
          <a:bodyPr/>
          <a:lstStyle/>
          <a:p>
            <a:r>
              <a:rPr lang="zh-CN" altLang="en-US" sz="2800" b="1">
                <a:latin typeface="+mn-ea"/>
                <a:sym typeface="+mn-ea"/>
              </a:rPr>
              <a:t>数据结构</a:t>
            </a:r>
            <a:r>
              <a:rPr lang="en-US" altLang="zh-CN" sz="2800" b="1">
                <a:latin typeface="+mn-ea"/>
                <a:sym typeface="+mn-ea"/>
              </a:rPr>
              <a:t>2</a:t>
            </a:r>
            <a:r>
              <a:rPr lang="zh-CN" altLang="en-US" sz="2800" b="1">
                <a:latin typeface="+mn-ea"/>
              </a:rPr>
              <a:t>：</a:t>
            </a:r>
            <a:endParaRPr lang="zh-CN" altLang="en-US" sz="2800" b="1">
              <a:latin typeface="+mn-ea"/>
            </a:endParaRPr>
          </a:p>
          <a:p>
            <a:pPr lvl="1" algn="l">
              <a:buSzTx/>
            </a:pPr>
            <a:r>
              <a:rPr lang="zh-CN" altLang="en-US" sz="2400">
                <a:latin typeface="+mn-ea"/>
                <a:sym typeface="+mn-ea"/>
              </a:rPr>
              <a:t>符号先按字母序组成符号表层级，</a:t>
            </a:r>
            <a:r>
              <a:rPr lang="zh-CN" altLang="en-US" sz="2400" b="1">
                <a:solidFill>
                  <a:srgbClr val="00B0F0"/>
                </a:solidFill>
                <a:latin typeface="+mn-ea"/>
                <a:sym typeface="+mn-ea"/>
              </a:rPr>
              <a:t>TSymbolTableLevel</a:t>
            </a:r>
            <a:r>
              <a:rPr lang="zh-CN" altLang="en-US" sz="2400">
                <a:latin typeface="+mn-ea"/>
                <a:sym typeface="+mn-ea"/>
              </a:rPr>
              <a:t>，</a:t>
            </a:r>
            <a:endParaRPr lang="zh-CN" altLang="en-US" sz="2400">
              <a:latin typeface="+mn-ea"/>
              <a:sym typeface="+mn-ea"/>
            </a:endParaRPr>
          </a:p>
          <a:p>
            <a:pPr lvl="2" algn="l">
              <a:buSzTx/>
            </a:pPr>
            <a:r>
              <a:rPr lang="zh-CN" altLang="en-US" sz="2000">
                <a:latin typeface="+mn-ea"/>
                <a:sym typeface="+mn-ea"/>
              </a:rPr>
              <a:t>不同的层级表示不同的有效空间，比如</a:t>
            </a:r>
            <a:r>
              <a:rPr lang="en-US" altLang="zh-CN" sz="2000">
                <a:latin typeface="+mn-ea"/>
                <a:sym typeface="+mn-ea"/>
              </a:rPr>
              <a:t>global</a:t>
            </a:r>
            <a:r>
              <a:rPr lang="zh-CN" altLang="en-US" sz="2000">
                <a:latin typeface="+mn-ea"/>
                <a:sym typeface="+mn-ea"/>
              </a:rPr>
              <a:t>等，</a:t>
            </a:r>
            <a:endParaRPr lang="zh-CN" altLang="en-US" sz="2000">
              <a:latin typeface="+mn-ea"/>
              <a:sym typeface="+mn-ea"/>
            </a:endParaRPr>
          </a:p>
          <a:p>
            <a:pPr lvl="2" algn="l">
              <a:buSzTx/>
            </a:pPr>
            <a:r>
              <a:rPr lang="en-US" altLang="zh-CN" sz="2000">
                <a:latin typeface="+mn-ea"/>
                <a:sym typeface="+mn-ea"/>
              </a:rPr>
              <a:t>level[0/1]</a:t>
            </a:r>
            <a:r>
              <a:rPr lang="zh-CN" altLang="en-US" sz="2000">
                <a:latin typeface="+mn-ea"/>
                <a:sym typeface="+mn-ea"/>
              </a:rPr>
              <a:t>为</a:t>
            </a:r>
            <a:r>
              <a:rPr lang="en-US" altLang="zh-CN" sz="2000">
                <a:latin typeface="+mn-ea"/>
                <a:sym typeface="+mn-ea"/>
              </a:rPr>
              <a:t>built-in</a:t>
            </a:r>
            <a:r>
              <a:rPr lang="zh-CN" altLang="en-US" sz="2000">
                <a:latin typeface="+mn-ea"/>
                <a:sym typeface="+mn-ea"/>
              </a:rPr>
              <a:t>，后面为用户定义的</a:t>
            </a:r>
            <a:endParaRPr lang="zh-CN" altLang="en-US" sz="2000">
              <a:latin typeface="+mn-ea"/>
              <a:sym typeface="+mn-ea"/>
            </a:endParaRPr>
          </a:p>
          <a:p>
            <a:pPr lvl="2" algn="l">
              <a:buSzTx/>
            </a:pPr>
            <a:r>
              <a:rPr lang="zh-CN" altLang="en-US" sz="2000">
                <a:latin typeface="+mn-ea"/>
                <a:sym typeface="+mn-ea"/>
              </a:rPr>
              <a:t>包含所有成员的表，tLevel </a:t>
            </a:r>
            <a:r>
              <a:rPr lang="zh-CN" altLang="en-US" sz="2000" b="1">
                <a:solidFill>
                  <a:srgbClr val="00B050"/>
                </a:solidFill>
                <a:latin typeface="+mn-ea"/>
                <a:sym typeface="+mn-ea"/>
              </a:rPr>
              <a:t>level</a:t>
            </a:r>
            <a:r>
              <a:rPr lang="zh-CN" altLang="en-US" sz="2000">
                <a:latin typeface="+mn-ea"/>
                <a:sym typeface="+mn-ea"/>
              </a:rPr>
              <a:t>。</a:t>
            </a:r>
            <a:r>
              <a:rPr lang="zh-CN" altLang="en-US" sz="2000" b="1">
                <a:solidFill>
                  <a:srgbClr val="00B0F0"/>
                </a:solidFill>
                <a:latin typeface="+mn-ea"/>
                <a:sym typeface="+mn-ea"/>
              </a:rPr>
              <a:t>tLevel </a:t>
            </a:r>
            <a:r>
              <a:rPr lang="zh-CN" altLang="en-US" sz="2000">
                <a:latin typeface="+mn-ea"/>
                <a:sym typeface="+mn-ea"/>
              </a:rPr>
              <a:t>是</a:t>
            </a:r>
            <a:r>
              <a:rPr lang="en-US" altLang="zh-CN" sz="2000">
                <a:latin typeface="+mn-ea"/>
                <a:sym typeface="+mn-ea"/>
              </a:rPr>
              <a:t>&lt;</a:t>
            </a:r>
            <a:r>
              <a:rPr lang="zh-CN" altLang="en-US" sz="2000">
                <a:latin typeface="+mn-ea"/>
                <a:sym typeface="+mn-ea"/>
              </a:rPr>
              <a:t>符号名，符号</a:t>
            </a:r>
            <a:r>
              <a:rPr lang="en-US" altLang="zh-CN" sz="2000">
                <a:latin typeface="+mn-ea"/>
                <a:sym typeface="+mn-ea"/>
              </a:rPr>
              <a:t>&gt; </a:t>
            </a:r>
            <a:r>
              <a:rPr lang="zh-CN" altLang="en-US" sz="2000">
                <a:latin typeface="+mn-ea"/>
                <a:sym typeface="+mn-ea"/>
              </a:rPr>
              <a:t>的</a:t>
            </a:r>
            <a:r>
              <a:rPr lang="en-US" altLang="zh-CN" sz="2000">
                <a:latin typeface="+mn-ea"/>
                <a:sym typeface="+mn-ea"/>
              </a:rPr>
              <a:t>map</a:t>
            </a:r>
            <a:endParaRPr lang="zh-CN" altLang="en-US" sz="2000">
              <a:latin typeface="+mn-ea"/>
              <a:sym typeface="+mn-ea"/>
            </a:endParaRPr>
          </a:p>
          <a:p>
            <a:pPr lvl="1" algn="l">
              <a:buSzTx/>
            </a:pPr>
            <a:r>
              <a:rPr lang="zh-CN" altLang="en-US" sz="2400">
                <a:latin typeface="+mn-ea"/>
                <a:sym typeface="+mn-ea"/>
              </a:rPr>
              <a:t>符号层级组成最终的符号表，</a:t>
            </a:r>
            <a:r>
              <a:rPr lang="zh-CN" altLang="en-US" sz="2400" b="1">
                <a:solidFill>
                  <a:srgbClr val="00B0F0"/>
                </a:solidFill>
                <a:latin typeface="+mn-ea"/>
                <a:sym typeface="+mn-ea"/>
              </a:rPr>
              <a:t>TSymbolTable</a:t>
            </a:r>
            <a:r>
              <a:rPr lang="zh-CN" altLang="en-US" sz="2400">
                <a:latin typeface="+mn-ea"/>
                <a:sym typeface="+mn-ea"/>
              </a:rPr>
              <a:t>，</a:t>
            </a:r>
            <a:endParaRPr lang="zh-CN" altLang="en-US" sz="2400">
              <a:latin typeface="+mn-ea"/>
              <a:sym typeface="+mn-ea"/>
            </a:endParaRPr>
          </a:p>
          <a:p>
            <a:pPr lvl="2" algn="l">
              <a:buSzTx/>
            </a:pPr>
            <a:r>
              <a:rPr lang="zh-CN" altLang="en-US" sz="2000">
                <a:latin typeface="+mn-ea"/>
                <a:sym typeface="+mn-ea"/>
              </a:rPr>
              <a:t>包含符号表层级的向量：vector&lt;TSymbolTableLevel*&gt; </a:t>
            </a:r>
            <a:r>
              <a:rPr lang="zh-CN" altLang="en-US" sz="2000" b="1">
                <a:solidFill>
                  <a:srgbClr val="00B050"/>
                </a:solidFill>
                <a:latin typeface="+mn-ea"/>
                <a:sym typeface="+mn-ea"/>
              </a:rPr>
              <a:t>table</a:t>
            </a:r>
            <a:r>
              <a:rPr lang="zh-CN" altLang="en-US" sz="2000">
                <a:latin typeface="+mn-ea"/>
                <a:sym typeface="+mn-ea"/>
              </a:rPr>
              <a:t>;</a:t>
            </a:r>
            <a:endParaRPr lang="zh-CN" altLang="en-US" sz="2000">
              <a:latin typeface="+mn-ea"/>
              <a:sym typeface="+mn-ea"/>
            </a:endParaRPr>
          </a:p>
          <a:p>
            <a:pPr lvl="2" algn="l">
              <a:buSzTx/>
            </a:pPr>
            <a:r>
              <a:rPr lang="zh-CN" altLang="en-US" sz="2000">
                <a:latin typeface="+mn-ea"/>
                <a:sym typeface="+mn-ea"/>
              </a:rPr>
              <a:t>对于全局符号表，</a:t>
            </a:r>
            <a:r>
              <a:rPr lang="zh-CN" altLang="en-US" sz="2000">
                <a:latin typeface="+mn-ea"/>
                <a:sym typeface="+mn-ea"/>
              </a:rPr>
              <a:t>不同的下标</a:t>
            </a:r>
            <a:r>
              <a:rPr lang="zh-CN" altLang="en-US" sz="2000">
                <a:latin typeface="+mn-ea"/>
                <a:sym typeface="+mn-ea"/>
              </a:rPr>
              <a:t>表示不同的</a:t>
            </a:r>
            <a:r>
              <a:rPr lang="en-US" altLang="zh-CN" sz="2000">
                <a:latin typeface="+mn-ea"/>
                <a:sym typeface="+mn-ea"/>
              </a:rPr>
              <a:t>shader</a:t>
            </a:r>
            <a:r>
              <a:rPr lang="zh-CN" altLang="en-US" sz="2000">
                <a:latin typeface="+mn-ea"/>
                <a:sym typeface="+mn-ea"/>
              </a:rPr>
              <a:t>，比如</a:t>
            </a:r>
            <a:r>
              <a:rPr lang="en-US" altLang="zh-CN" sz="2000">
                <a:latin typeface="+mn-ea"/>
                <a:sym typeface="+mn-ea"/>
              </a:rPr>
              <a:t>table[0]</a:t>
            </a:r>
            <a:r>
              <a:rPr lang="zh-CN" altLang="en-US" sz="2000">
                <a:latin typeface="+mn-ea"/>
                <a:sym typeface="+mn-ea"/>
              </a:rPr>
              <a:t>表示EShLangVertex；</a:t>
            </a:r>
            <a:endParaRPr lang="zh-CN" altLang="en-US" sz="2000">
              <a:latin typeface="+mn-ea"/>
              <a:sym typeface="+mn-ea"/>
            </a:endParaRPr>
          </a:p>
          <a:p>
            <a:pPr lvl="2" algn="l">
              <a:buSzTx/>
            </a:pPr>
            <a:r>
              <a:rPr lang="zh-CN" altLang="en-US" sz="2000">
                <a:latin typeface="+mn-ea"/>
                <a:sym typeface="+mn-ea"/>
              </a:rPr>
              <a:t>对于</a:t>
            </a:r>
            <a:r>
              <a:rPr lang="en-US" altLang="zh-CN" sz="2000">
                <a:latin typeface="+mn-ea"/>
                <a:sym typeface="+mn-ea"/>
              </a:rPr>
              <a:t>compiler</a:t>
            </a:r>
            <a:r>
              <a:rPr lang="zh-CN" altLang="en-US" sz="2000">
                <a:latin typeface="+mn-ea"/>
                <a:sym typeface="+mn-ea"/>
              </a:rPr>
              <a:t>函数中的局部符号表，只拷贝当前</a:t>
            </a:r>
            <a:r>
              <a:rPr lang="en-US" altLang="zh-CN" sz="2000">
                <a:latin typeface="+mn-ea"/>
                <a:sym typeface="+mn-ea"/>
              </a:rPr>
              <a:t>shader</a:t>
            </a:r>
            <a:r>
              <a:rPr lang="zh-CN" altLang="en-US" sz="2000">
                <a:latin typeface="+mn-ea"/>
                <a:sym typeface="+mn-ea"/>
              </a:rPr>
              <a:t>的符号表，不同的下标表示不同的层次，比如</a:t>
            </a:r>
            <a:r>
              <a:rPr lang="en-US" altLang="zh-CN" sz="2000">
                <a:latin typeface="+mn-ea"/>
                <a:sym typeface="+mn-ea"/>
              </a:rPr>
              <a:t>table[0]</a:t>
            </a:r>
            <a:r>
              <a:rPr lang="zh-CN" altLang="en-US" sz="2000">
                <a:latin typeface="+mn-ea"/>
                <a:sym typeface="+mn-ea"/>
              </a:rPr>
              <a:t>表示</a:t>
            </a:r>
            <a:r>
              <a:rPr lang="en-US" altLang="zh-CN" sz="2000">
                <a:latin typeface="+mn-ea"/>
                <a:sym typeface="+mn-ea"/>
              </a:rPr>
              <a:t>builtIn</a:t>
            </a:r>
            <a:r>
              <a:rPr lang="zh-CN" altLang="en-US" sz="2000">
                <a:latin typeface="+mn-ea"/>
                <a:sym typeface="+mn-ea"/>
              </a:rPr>
              <a:t>，</a:t>
            </a:r>
            <a:r>
              <a:rPr lang="en-US" altLang="zh-CN" sz="2000">
                <a:latin typeface="+mn-ea"/>
                <a:sym typeface="+mn-ea"/>
              </a:rPr>
              <a:t>table[1]</a:t>
            </a:r>
            <a:r>
              <a:rPr lang="zh-CN" altLang="en-US" sz="2000">
                <a:latin typeface="+mn-ea"/>
                <a:sym typeface="+mn-ea"/>
              </a:rPr>
              <a:t>表示</a:t>
            </a:r>
            <a:r>
              <a:rPr lang="en-US" altLang="zh-CN" sz="2000">
                <a:latin typeface="+mn-ea"/>
                <a:sym typeface="+mn-ea"/>
              </a:rPr>
              <a:t>resource</a:t>
            </a:r>
            <a:r>
              <a:rPr lang="zh-CN" altLang="en-US" sz="2000">
                <a:latin typeface="+mn-ea"/>
                <a:sym typeface="+mn-ea"/>
              </a:rPr>
              <a:t>，</a:t>
            </a:r>
            <a:r>
              <a:rPr lang="en-US" altLang="zh-CN" sz="2000">
                <a:latin typeface="+mn-ea"/>
                <a:sym typeface="+mn-ea"/>
              </a:rPr>
              <a:t>table[2]</a:t>
            </a:r>
            <a:r>
              <a:rPr lang="zh-CN" altLang="en-US" sz="2000">
                <a:latin typeface="+mn-ea"/>
                <a:sym typeface="+mn-ea"/>
              </a:rPr>
              <a:t>表示用户程序中出现</a:t>
            </a:r>
            <a:r>
              <a:rPr lang="zh-CN" altLang="en-US" sz="2000">
                <a:latin typeface="+mn-ea"/>
                <a:sym typeface="+mn-ea"/>
              </a:rPr>
              <a:t>的</a:t>
            </a:r>
            <a:endParaRPr lang="zh-CN" altLang="en-US" sz="2000">
              <a:latin typeface="+mn-ea"/>
              <a:sym typeface="+mn-ea"/>
            </a:endParaRPr>
          </a:p>
          <a:p>
            <a:pPr lvl="1" algn="l">
              <a:buSzTx/>
            </a:pPr>
            <a:r>
              <a:rPr lang="zh-CN" altLang="en-US" sz="2400">
                <a:latin typeface="+mn-ea"/>
                <a:sym typeface="+mn-ea"/>
              </a:rPr>
              <a:t>全局符号表为</a:t>
            </a:r>
            <a:r>
              <a:rPr lang="zh-CN" altLang="en-US" sz="2400" b="1">
                <a:solidFill>
                  <a:srgbClr val="00B0F0"/>
                </a:solidFill>
                <a:latin typeface="+mn-ea"/>
                <a:sym typeface="+mn-ea"/>
              </a:rPr>
              <a:t>TSymbolTable </a:t>
            </a:r>
            <a:r>
              <a:rPr lang="zh-CN" altLang="en-US" sz="2400" b="1">
                <a:solidFill>
                  <a:srgbClr val="00B050"/>
                </a:solidFill>
                <a:latin typeface="+mn-ea"/>
                <a:sym typeface="+mn-ea"/>
              </a:rPr>
              <a:t>SymbolTables</a:t>
            </a:r>
            <a:r>
              <a:rPr lang="zh-CN" altLang="en-US" sz="2400">
                <a:latin typeface="+mn-ea"/>
                <a:sym typeface="+mn-ea"/>
              </a:rPr>
              <a:t>[</a:t>
            </a:r>
            <a:r>
              <a:rPr lang="zh-CN" altLang="en-US" sz="2400" b="1">
                <a:solidFill>
                  <a:srgbClr val="7030A0"/>
                </a:solidFill>
                <a:latin typeface="+mn-ea"/>
                <a:sym typeface="+mn-ea"/>
              </a:rPr>
              <a:t>EShLangCount</a:t>
            </a:r>
            <a:r>
              <a:rPr lang="zh-CN" altLang="en-US" sz="2400">
                <a:latin typeface="+mn-ea"/>
                <a:sym typeface="+mn-ea"/>
              </a:rPr>
              <a:t>];为全局变量</a:t>
            </a:r>
            <a:endParaRPr lang="zh-CN" altLang="en-US" sz="2400">
              <a:latin typeface="+mn-ea"/>
              <a:sym typeface="+mn-ea"/>
            </a:endParaRPr>
          </a:p>
          <a:p>
            <a:pPr lvl="2" algn="l">
              <a:buSzTx/>
            </a:pPr>
            <a:endParaRPr lang="zh-CN" altLang="en-US" sz="2030">
              <a:latin typeface="+mn-ea"/>
              <a:sym typeface="+mn-ea"/>
            </a:endParaRPr>
          </a:p>
          <a:p>
            <a:pPr lvl="2" algn="l">
              <a:buSzTx/>
            </a:pPr>
            <a:endParaRPr lang="zh-CN" altLang="en-US" sz="2030">
              <a:latin typeface="+mn-ea"/>
            </a:endParaRPr>
          </a:p>
          <a:p>
            <a:pPr lvl="1" algn="l">
              <a:buSzTx/>
            </a:pPr>
            <a:endParaRPr lang="zh-CN" altLang="en-US" sz="2400" dirty="0">
              <a:latin typeface="+mn-ea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glslang</a:t>
            </a:r>
            <a:r>
              <a:rPr lang="en-US" altLang="zh-CN" dirty="0"/>
              <a:t> 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符号表</a:t>
            </a:r>
            <a:endParaRPr lang="zh-CN" alt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13245" y="1038224"/>
            <a:ext cx="11338560" cy="5280659"/>
          </a:xfrm>
        </p:spPr>
        <p:txBody>
          <a:bodyPr/>
          <a:lstStyle/>
          <a:p>
            <a:r>
              <a:rPr lang="zh-CN" altLang="en-US" sz="2800" b="1">
                <a:latin typeface="+mn-ea"/>
                <a:sym typeface="+mn-ea"/>
              </a:rPr>
              <a:t>初始化</a:t>
            </a:r>
            <a:r>
              <a:rPr lang="zh-CN" altLang="en-US" sz="2800" b="1">
                <a:latin typeface="+mn-ea"/>
              </a:rPr>
              <a:t>：</a:t>
            </a:r>
            <a:endParaRPr lang="zh-CN" altLang="en-US" sz="2800" b="1">
              <a:latin typeface="+mn-ea"/>
            </a:endParaRPr>
          </a:p>
          <a:p>
            <a:pPr lvl="1" algn="l">
              <a:buSzTx/>
            </a:pPr>
            <a:r>
              <a:rPr lang="zh-CN" altLang="en-US" sz="2400">
                <a:latin typeface="+mn-ea"/>
                <a:sym typeface="+mn-ea"/>
              </a:rPr>
              <a:t>为全局变量</a:t>
            </a:r>
            <a:r>
              <a:rPr lang="zh-CN" altLang="en-US" sz="2400" b="1">
                <a:solidFill>
                  <a:srgbClr val="00B0F0"/>
                </a:solidFill>
                <a:latin typeface="+mn-ea"/>
                <a:sym typeface="+mn-ea"/>
              </a:rPr>
              <a:t>TSymbolTable </a:t>
            </a:r>
            <a:r>
              <a:rPr lang="zh-CN" altLang="en-US" sz="2400" b="1">
                <a:solidFill>
                  <a:srgbClr val="00B050"/>
                </a:solidFill>
                <a:latin typeface="+mn-ea"/>
                <a:sym typeface="+mn-ea"/>
              </a:rPr>
              <a:t>SymbolTables</a:t>
            </a:r>
            <a:r>
              <a:rPr lang="zh-CN" altLang="en-US" sz="2400">
                <a:latin typeface="+mn-ea"/>
                <a:sym typeface="+mn-ea"/>
              </a:rPr>
              <a:t>[</a:t>
            </a:r>
            <a:r>
              <a:rPr lang="zh-CN" altLang="en-US" sz="2400" b="1">
                <a:solidFill>
                  <a:srgbClr val="7030A0"/>
                </a:solidFill>
                <a:latin typeface="+mn-ea"/>
                <a:sym typeface="+mn-ea"/>
              </a:rPr>
              <a:t>EShLangCount</a:t>
            </a:r>
            <a:r>
              <a:rPr lang="zh-CN" altLang="en-US" sz="2400">
                <a:latin typeface="+mn-ea"/>
                <a:sym typeface="+mn-ea"/>
              </a:rPr>
              <a:t>]</a:t>
            </a:r>
            <a:r>
              <a:rPr lang="zh-CN" altLang="en-US" sz="2400">
                <a:latin typeface="+mn-ea"/>
                <a:sym typeface="+mn-ea"/>
              </a:rPr>
              <a:t>建立</a:t>
            </a:r>
            <a:r>
              <a:rPr lang="en-US" altLang="zh-CN" sz="2400">
                <a:latin typeface="+mn-ea"/>
                <a:sym typeface="+mn-ea"/>
              </a:rPr>
              <a:t>builtin</a:t>
            </a:r>
            <a:r>
              <a:rPr lang="zh-CN" altLang="en-US" sz="2400">
                <a:latin typeface="+mn-ea"/>
                <a:sym typeface="+mn-ea"/>
              </a:rPr>
              <a:t>符号表，</a:t>
            </a:r>
            <a:endParaRPr lang="zh-CN" altLang="en-US" sz="2400">
              <a:latin typeface="+mn-ea"/>
              <a:sym typeface="+mn-ea"/>
            </a:endParaRPr>
          </a:p>
          <a:p>
            <a:pPr lvl="2" algn="l">
              <a:buSzTx/>
            </a:pPr>
            <a:r>
              <a:rPr lang="zh-CN" altLang="en-US" sz="2000">
                <a:latin typeface="+mn-ea"/>
                <a:sym typeface="+mn-ea"/>
              </a:rPr>
              <a:t>由函数</a:t>
            </a:r>
            <a:r>
              <a:rPr lang="zh-CN" altLang="en-US" sz="2000" b="1">
                <a:solidFill>
                  <a:schemeClr val="accent1"/>
                </a:solidFill>
                <a:latin typeface="+mn-ea"/>
                <a:sym typeface="+mn-ea"/>
              </a:rPr>
              <a:t>GenerateBuiltInSymbolTable</a:t>
            </a:r>
            <a:r>
              <a:rPr lang="en-US" altLang="zh-CN" sz="2000">
                <a:latin typeface="+mn-ea"/>
                <a:sym typeface="+mn-ea"/>
              </a:rPr>
              <a:t>()</a:t>
            </a:r>
            <a:r>
              <a:rPr lang="zh-CN" altLang="en-US" sz="2000">
                <a:latin typeface="+mn-ea"/>
                <a:sym typeface="+mn-ea"/>
              </a:rPr>
              <a:t>完成，</a:t>
            </a:r>
            <a:endParaRPr lang="zh-CN" altLang="en-US" sz="2000">
              <a:latin typeface="+mn-ea"/>
              <a:sym typeface="+mn-ea"/>
            </a:endParaRPr>
          </a:p>
          <a:p>
            <a:pPr lvl="2" algn="l">
              <a:buSzTx/>
            </a:pPr>
            <a:r>
              <a:rPr lang="zh-CN" altLang="en-US" sz="2000">
                <a:latin typeface="+mn-ea"/>
                <a:sym typeface="+mn-ea"/>
              </a:rPr>
              <a:t>实际工作由</a:t>
            </a:r>
            <a:r>
              <a:rPr lang="zh-CN" altLang="en-US" sz="2000" b="1">
                <a:solidFill>
                  <a:schemeClr val="accent1"/>
                </a:solidFill>
                <a:latin typeface="+mn-ea"/>
                <a:sym typeface="+mn-ea"/>
              </a:rPr>
              <a:t>InitializeSymbolTable</a:t>
            </a:r>
            <a:r>
              <a:rPr lang="en-US" altLang="zh-CN" sz="2000">
                <a:latin typeface="+mn-ea"/>
                <a:sym typeface="+mn-ea"/>
              </a:rPr>
              <a:t>()</a:t>
            </a:r>
            <a:r>
              <a:rPr lang="zh-CN" altLang="en-US" sz="2000">
                <a:latin typeface="+mn-ea"/>
                <a:sym typeface="+mn-ea"/>
              </a:rPr>
              <a:t>完成</a:t>
            </a:r>
            <a:endParaRPr lang="zh-CN" altLang="en-US" sz="2000">
              <a:latin typeface="+mn-ea"/>
              <a:sym typeface="+mn-ea"/>
            </a:endParaRPr>
          </a:p>
          <a:p>
            <a:pPr lvl="2" algn="l">
              <a:buSzTx/>
            </a:pPr>
            <a:r>
              <a:rPr lang="zh-CN" altLang="en-US" sz="2000">
                <a:latin typeface="+mn-ea"/>
                <a:sym typeface="+mn-ea"/>
              </a:rPr>
              <a:t>定义在\glslang\MachineIndependent\ShaderLang.cpp文件中</a:t>
            </a:r>
            <a:endParaRPr lang="zh-CN" altLang="en-US" sz="2000">
              <a:latin typeface="+mn-ea"/>
              <a:sym typeface="+mn-ea"/>
            </a:endParaRPr>
          </a:p>
          <a:p>
            <a:pPr lvl="2" algn="l">
              <a:buSzTx/>
            </a:pPr>
            <a:r>
              <a:rPr lang="zh-CN" altLang="en-US" sz="2000">
                <a:latin typeface="+mn-ea"/>
                <a:sym typeface="+mn-ea"/>
              </a:rPr>
              <a:t>先在</a:t>
            </a:r>
            <a:r>
              <a:rPr lang="zh-CN" altLang="en-US" sz="2000">
                <a:solidFill>
                  <a:schemeClr val="bg1"/>
                </a:solidFill>
                <a:latin typeface="+mn-ea"/>
                <a:sym typeface="+mn-ea"/>
              </a:rPr>
              <a:t>GenerateBuiltInSymbolTable</a:t>
            </a:r>
            <a:r>
              <a:rPr lang="en-US" altLang="zh-CN" sz="2000">
                <a:solidFill>
                  <a:schemeClr val="bg1"/>
                </a:solidFill>
                <a:latin typeface="+mn-ea"/>
                <a:sym typeface="+mn-ea"/>
              </a:rPr>
              <a:t>()</a:t>
            </a:r>
            <a:r>
              <a:rPr lang="zh-CN" altLang="en-US" sz="2000">
                <a:latin typeface="+mn-ea"/>
                <a:sym typeface="+mn-ea"/>
              </a:rPr>
              <a:t>建立builtIn符号的字符串集合 TBuiltIns </a:t>
            </a:r>
            <a:r>
              <a:rPr lang="zh-CN" altLang="en-US" sz="2000" b="1">
                <a:solidFill>
                  <a:srgbClr val="00B050"/>
                </a:solidFill>
                <a:latin typeface="+mn-ea"/>
                <a:sym typeface="+mn-ea"/>
              </a:rPr>
              <a:t>builtIns</a:t>
            </a:r>
            <a:r>
              <a:rPr lang="zh-CN" altLang="en-US" sz="2000">
                <a:latin typeface="+mn-ea"/>
                <a:sym typeface="+mn-ea"/>
              </a:rPr>
              <a:t>;然后在InitializeSymbolTable</a:t>
            </a:r>
            <a:r>
              <a:rPr lang="en-US" altLang="zh-CN" sz="2000">
                <a:latin typeface="+mn-ea"/>
                <a:sym typeface="+mn-ea"/>
              </a:rPr>
              <a:t>()</a:t>
            </a:r>
            <a:r>
              <a:rPr lang="zh-CN" altLang="en-US" sz="2000">
                <a:latin typeface="+mn-ea"/>
                <a:sym typeface="+mn-ea"/>
              </a:rPr>
              <a:t>中直接调用</a:t>
            </a:r>
            <a:r>
              <a:rPr lang="en-US" altLang="zh-CN" sz="2000">
                <a:latin typeface="+mn-ea"/>
                <a:sym typeface="+mn-ea"/>
              </a:rPr>
              <a:t>PaParseStrings()</a:t>
            </a:r>
            <a:r>
              <a:rPr lang="zh-CN" altLang="en-US" sz="2000">
                <a:latin typeface="+mn-ea"/>
                <a:sym typeface="+mn-ea"/>
              </a:rPr>
              <a:t>编译出符号表</a:t>
            </a:r>
            <a:endParaRPr lang="zh-CN" altLang="en-US" sz="2000">
              <a:latin typeface="+mn-ea"/>
            </a:endParaRPr>
          </a:p>
          <a:p>
            <a:pPr lvl="2" algn="l">
              <a:buSzTx/>
            </a:pPr>
            <a:r>
              <a:rPr lang="zh-CN" altLang="en-US" sz="2000" b="1">
                <a:solidFill>
                  <a:schemeClr val="bg1"/>
                </a:solidFill>
                <a:latin typeface="+mn-ea"/>
                <a:sym typeface="+mn-ea"/>
              </a:rPr>
              <a:t>GenerateBuiltInSymbolTable</a:t>
            </a:r>
            <a:r>
              <a:rPr lang="en-US" altLang="zh-CN" sz="2000">
                <a:latin typeface="+mn-ea"/>
                <a:sym typeface="+mn-ea"/>
              </a:rPr>
              <a:t>()</a:t>
            </a:r>
            <a:endParaRPr lang="zh-CN" altLang="en-US" sz="2000">
              <a:latin typeface="+mn-ea"/>
              <a:sym typeface="+mn-ea"/>
            </a:endParaRPr>
          </a:p>
          <a:p>
            <a:pPr lvl="3" algn="l">
              <a:buSzTx/>
            </a:pPr>
            <a:r>
              <a:rPr lang="zh-CN" altLang="en-US" dirty="0">
                <a:latin typeface="+mn-ea"/>
              </a:rPr>
              <a:t>该函数在两个地方被调用，一个是在整体初始化中，另一个是在每次编译一个</a:t>
            </a:r>
            <a:r>
              <a:rPr lang="en-US" altLang="zh-CN" dirty="0">
                <a:latin typeface="+mn-ea"/>
              </a:rPr>
              <a:t>shader</a:t>
            </a:r>
            <a:r>
              <a:rPr lang="zh-CN" altLang="en-US" dirty="0">
                <a:latin typeface="+mn-ea"/>
              </a:rPr>
              <a:t>前</a:t>
            </a:r>
            <a:endParaRPr lang="zh-CN" altLang="en-US" dirty="0">
              <a:latin typeface="+mn-ea"/>
            </a:endParaRPr>
          </a:p>
          <a:p>
            <a:pPr lvl="2" algn="l">
              <a:buSzTx/>
            </a:pPr>
            <a:r>
              <a:rPr lang="zh-CN" altLang="en-US" sz="2000" b="1">
                <a:latin typeface="+mn-ea"/>
                <a:sym typeface="+mn-ea"/>
              </a:rPr>
              <a:t>InitializeSymbolTable</a:t>
            </a:r>
            <a:r>
              <a:rPr lang="en-US" altLang="zh-CN" sz="1800">
                <a:latin typeface="+mn-ea"/>
                <a:sym typeface="+mn-ea"/>
              </a:rPr>
              <a:t>()</a:t>
            </a:r>
            <a:endParaRPr lang="en-US" altLang="zh-CN" sz="1800">
              <a:latin typeface="+mn-ea"/>
              <a:sym typeface="+mn-ea"/>
            </a:endParaRPr>
          </a:p>
          <a:p>
            <a:pPr lvl="3" algn="l">
              <a:buSzTx/>
            </a:pPr>
            <a:r>
              <a:rPr lang="zh-CN" altLang="en-US" dirty="0">
                <a:latin typeface="+mn-ea"/>
                <a:sym typeface="+mn-ea"/>
              </a:rPr>
              <a:t>该函数先编译</a:t>
            </a:r>
            <a:r>
              <a:rPr lang="en-US" altLang="zh-CN" dirty="0">
                <a:latin typeface="+mn-ea"/>
                <a:sym typeface="+mn-ea"/>
              </a:rPr>
              <a:t>built-in</a:t>
            </a:r>
            <a:r>
              <a:rPr lang="zh-CN" altLang="en-US" dirty="0">
                <a:latin typeface="+mn-ea"/>
                <a:sym typeface="+mn-ea"/>
              </a:rPr>
              <a:t>的字符串，然后调用</a:t>
            </a:r>
            <a:r>
              <a:rPr lang="zh-CN" altLang="en-US" b="1" dirty="0">
                <a:solidFill>
                  <a:schemeClr val="accent1"/>
                </a:solidFill>
                <a:latin typeface="+mn-ea"/>
                <a:sym typeface="+mn-ea"/>
              </a:rPr>
              <a:t>IdentifyBuiltIns</a:t>
            </a:r>
            <a:r>
              <a:rPr lang="en-US" altLang="zh-CN" dirty="0">
                <a:latin typeface="+mn-ea"/>
                <a:sym typeface="+mn-ea"/>
              </a:rPr>
              <a:t>()</a:t>
            </a:r>
            <a:r>
              <a:rPr lang="zh-CN" altLang="en-US" dirty="0">
                <a:latin typeface="+mn-ea"/>
                <a:sym typeface="+mn-ea"/>
              </a:rPr>
              <a:t>将部分函数名替换成操作符枚举值。比如将</a:t>
            </a:r>
            <a:r>
              <a:rPr lang="en-US" altLang="zh-CN" dirty="0">
                <a:latin typeface="+mn-ea"/>
                <a:sym typeface="+mn-ea"/>
              </a:rPr>
              <a:t>'mod'</a:t>
            </a:r>
            <a:r>
              <a:rPr lang="zh-CN" altLang="en-US" dirty="0">
                <a:latin typeface="+mn-ea"/>
                <a:sym typeface="+mn-ea"/>
              </a:rPr>
              <a:t>替换为</a:t>
            </a:r>
            <a:r>
              <a:rPr lang="en-US" altLang="zh-CN" dirty="0">
                <a:latin typeface="+mn-ea"/>
                <a:sym typeface="+mn-ea"/>
              </a:rPr>
              <a:t>EOpMod</a:t>
            </a:r>
            <a:endParaRPr lang="en-US" altLang="zh-CN" dirty="0">
              <a:latin typeface="+mn-ea"/>
              <a:sym typeface="+mn-ea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glslang</a:t>
            </a:r>
            <a:r>
              <a:rPr lang="en-US" altLang="zh-CN" dirty="0"/>
              <a:t> 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符号表</a:t>
            </a:r>
            <a:endParaRPr lang="zh-CN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AMD WIDE BLK">
  <a:themeElements>
    <a:clrScheme name="Custom 8">
      <a:dk1>
        <a:sysClr val="windowText" lastClr="000000"/>
      </a:dk1>
      <a:lt1>
        <a:sysClr val="window" lastClr="FFFFFF"/>
      </a:lt1>
      <a:dk2>
        <a:srgbClr val="FFFFFF"/>
      </a:dk2>
      <a:lt2>
        <a:srgbClr val="000000"/>
      </a:lt2>
      <a:accent1>
        <a:srgbClr val="F26522"/>
      </a:accent1>
      <a:accent2>
        <a:srgbClr val="ED1C24"/>
      </a:accent2>
      <a:accent3>
        <a:srgbClr val="00AAB5"/>
      </a:accent3>
      <a:accent4>
        <a:srgbClr val="A6CE39"/>
      </a:accent4>
      <a:accent5>
        <a:srgbClr val="812990"/>
      </a:accent5>
      <a:accent6>
        <a:srgbClr val="C7C8CA"/>
      </a:accent6>
      <a:hlink>
        <a:srgbClr val="ED1C24"/>
      </a:hlink>
      <a:folHlink>
        <a:srgbClr val="C7C8CA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3"/>
        </a:solidFill>
        <a:ln>
          <a:noFill/>
        </a:ln>
      </a:spPr>
      <a:bodyPr rtlCol="0" anchor="ctr"/>
      <a:lstStyle>
        <a:defPPr algn="ctr">
          <a:defRPr dirty="0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accent3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marL="174625" indent="-174625">
          <a:spcAft>
            <a:spcPts val="600"/>
          </a:spcAft>
          <a:buClr>
            <a:schemeClr val="bg2"/>
          </a:buClr>
          <a:buFont typeface="Wingdings 3" pitchFamily="18" charset="2"/>
          <a:buChar char="}"/>
          <a:defRPr dirty="0" smtClean="0"/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5515</Words>
  <Application>WPS 演示</Application>
  <PresentationFormat>Custom</PresentationFormat>
  <Paragraphs>240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5" baseType="lpstr">
      <vt:lpstr>Arial</vt:lpstr>
      <vt:lpstr>宋体</vt:lpstr>
      <vt:lpstr>Wingdings</vt:lpstr>
      <vt:lpstr>Calibri</vt:lpstr>
      <vt:lpstr>Wingdings 3</vt:lpstr>
      <vt:lpstr>Symbol</vt:lpstr>
      <vt:lpstr>微软雅黑</vt:lpstr>
      <vt:lpstr>Arial Unicode MS</vt:lpstr>
      <vt:lpstr>黑体</vt:lpstr>
      <vt:lpstr>1_AMD WIDE BLK</vt:lpstr>
      <vt:lpstr>glslang </vt:lpstr>
      <vt:lpstr>glslang </vt:lpstr>
      <vt:lpstr>glslang </vt:lpstr>
      <vt:lpstr>glslang </vt:lpstr>
      <vt:lpstr>glslang </vt:lpstr>
      <vt:lpstr>glslang </vt:lpstr>
      <vt:lpstr>glslang </vt:lpstr>
      <vt:lpstr>glslang </vt:lpstr>
      <vt:lpstr>glslang </vt:lpstr>
      <vt:lpstr>glslang </vt:lpstr>
      <vt:lpstr>glslang </vt:lpstr>
      <vt:lpstr>glslang </vt:lpstr>
      <vt:lpstr>glslang </vt:lpstr>
      <vt:lpstr>glslang </vt:lpstr>
      <vt:lpstr>glslang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Wang, XiaoNing</dc:creator>
  <cp:lastModifiedBy>feifei</cp:lastModifiedBy>
  <cp:revision>2581</cp:revision>
  <dcterms:created xsi:type="dcterms:W3CDTF">2021-08-09T03:16:00Z</dcterms:created>
  <dcterms:modified xsi:type="dcterms:W3CDTF">2021-08-10T10:54:55Z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0x010100B040F28C9190714F9051F1661A72B344</vt:lpwstr>
  </property>
  <property fmtid="{D5CDD505-2E9C-101B-9397-08002B2CF9AE}" pid="3" name="MSIP_Label_88914ebd-7e6c-4e12-a031-a9906be2db14_Enabled">
    <vt:lpwstr>true</vt:lpwstr>
  </property>
  <property fmtid="{D5CDD505-2E9C-101B-9397-08002B2CF9AE}" pid="4" name="MSIP_Label_88914ebd-7e6c-4e12-a031-a9906be2db14_SetDate">
    <vt:lpwstr>2021-07-22T00:52:12Z</vt:lpwstr>
  </property>
  <property fmtid="{D5CDD505-2E9C-101B-9397-08002B2CF9AE}" pid="5" name="MSIP_Label_88914ebd-7e6c-4e12-a031-a9906be2db14_Method">
    <vt:lpwstr>Privileged</vt:lpwstr>
  </property>
  <property fmtid="{D5CDD505-2E9C-101B-9397-08002B2CF9AE}" pid="6" name="MSIP_Label_88914ebd-7e6c-4e12-a031-a9906be2db14_Name">
    <vt:lpwstr>AMD Official Use Only-AIP 2.0</vt:lpwstr>
  </property>
  <property fmtid="{D5CDD505-2E9C-101B-9397-08002B2CF9AE}" pid="7" name="MSIP_Label_88914ebd-7e6c-4e12-a031-a9906be2db14_SiteId">
    <vt:lpwstr>3dd8961f-e488-4e60-8e11-a82d994e183d</vt:lpwstr>
  </property>
  <property fmtid="{D5CDD505-2E9C-101B-9397-08002B2CF9AE}" pid="8" name="MSIP_Label_88914ebd-7e6c-4e12-a031-a9906be2db14_ActionId">
    <vt:lpwstr>45832907-89b4-46ba-aca8-9a7e0b9846b0</vt:lpwstr>
  </property>
  <property fmtid="{D5CDD505-2E9C-101B-9397-08002B2CF9AE}" pid="9" name="MSIP_Label_88914ebd-7e6c-4e12-a031-a9906be2db14_ContentBits">
    <vt:lpwstr>1</vt:lpwstr>
  </property>
  <property fmtid="{D5CDD505-2E9C-101B-9397-08002B2CF9AE}" pid="10" name="ClassificationContentMarkingHeaderLocations">
    <vt:lpwstr>1_AMD WIDE BLK:4</vt:lpwstr>
  </property>
  <property fmtid="{D5CDD505-2E9C-101B-9397-08002B2CF9AE}" pid="11" name="ClassificationContentMarkingHeaderText">
    <vt:lpwstr>[AMD Official Use Only]</vt:lpwstr>
  </property>
  <property fmtid="{D5CDD505-2E9C-101B-9397-08002B2CF9AE}" pid="12" name="KSOProductBuildVer">
    <vt:lpwstr>2052-11.1.0.10214</vt:lpwstr>
  </property>
</Properties>
</file>